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embeddedFontLst>
    <p:embeddedFont>
      <p:font typeface="Lato" panose="020B0604020202020204" charset="0"/>
      <p:regular r:id="rId10"/>
      <p:bold r:id="rId11"/>
      <p:italic r:id="rId12"/>
      <p:boldItalic r:id="rId13"/>
    </p:embeddedFont>
    <p:embeddedFont>
      <p:font typeface="Agency FB" panose="020B0503020202020204" pitchFamily="34" charset="0"/>
      <p:regular r:id="rId14"/>
      <p:bold r:id="rId15"/>
    </p:embeddedFont>
    <p:embeddedFont>
      <p:font typeface="Montserrat" panose="00000500000000000000" pitchFamily="2" charset="0"/>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gjaZeiHM5fykydk5sZfGDknyy8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5" d="100"/>
          <a:sy n="95" d="100"/>
        </p:scale>
        <p:origin x="666"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0544581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29019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41630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06331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27340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54005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63059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79714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g25a53810457_0_68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g25a53810457_0_68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g25a53810457_0_6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g25a53810457_0_68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g25a53810457_0_6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g25a53810457_0_69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g25a53810457_0_69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g25a53810457_0_69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g25a53810457_0_69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g25a53810457_0_69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g25a53810457_0_69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g25a53810457_0_6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g25a53810457_0_70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g25a53810457_0_70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g25a53810457_0_704"/>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g25a53810457_0_704"/>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g25a53810457_0_7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g25a53810457_0_70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g25a53810457_0_7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g25a53810457_0_7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g25a53810457_0_71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g25a53810457_0_71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g25a53810457_0_71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g25a53810457_0_7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g25a53810457_0_717"/>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g25a53810457_0_7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g25a53810457_0_720"/>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g25a53810457_0_720"/>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g25a53810457_0_7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g25a53810457_0_7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25a53810457_0_68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g25a53810457_0_68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g25a53810457_0_68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450266" y="761719"/>
            <a:ext cx="8520600" cy="752100"/>
          </a:xfrm>
          <a:prstGeom prst="rect">
            <a:avLst/>
          </a:prstGeom>
          <a:noFill/>
          <a:ln>
            <a:noFill/>
          </a:ln>
        </p:spPr>
        <p:txBody>
          <a:bodyPr spcFirstLastPara="1" wrap="square" lIns="91425" tIns="91425" rIns="91425" bIns="91425" anchor="t" anchorCtr="0">
            <a:noAutofit/>
          </a:bodyPr>
          <a:lstStyle/>
          <a:p>
            <a:pPr lvl="0"/>
            <a:r>
              <a:rPr lang="en-IN" sz="4000" u="sng" dirty="0" smtClean="0">
                <a:solidFill>
                  <a:srgbClr val="0070C0"/>
                </a:solidFill>
              </a:rPr>
              <a:t>EPILEP SAFE</a:t>
            </a:r>
            <a:endParaRPr sz="3600" b="1" u="sng" dirty="0">
              <a:solidFill>
                <a:srgbClr val="0070C0"/>
              </a:solidFill>
              <a:latin typeface="Agency FB" panose="020B0503020202020204" pitchFamily="34" charset="0"/>
              <a:ea typeface="Montserrat"/>
              <a:cs typeface="Montserrat"/>
              <a:sym typeface="Montserrat"/>
            </a:endParaRPr>
          </a:p>
        </p:txBody>
      </p:sp>
      <p:sp>
        <p:nvSpPr>
          <p:cNvPr id="55" name="Google Shape;55;p1"/>
          <p:cNvSpPr txBox="1">
            <a:spLocks noGrp="1"/>
          </p:cNvSpPr>
          <p:nvPr>
            <p:ph type="subTitle" idx="1"/>
          </p:nvPr>
        </p:nvSpPr>
        <p:spPr>
          <a:xfrm>
            <a:off x="369825" y="4779575"/>
            <a:ext cx="3154500" cy="462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40"/>
              <a:buNone/>
            </a:pPr>
            <a:r>
              <a:rPr lang="en-GB" sz="1120" b="1" dirty="0">
                <a:solidFill>
                  <a:srgbClr val="000000"/>
                </a:solidFill>
                <a:latin typeface="Montserrat"/>
                <a:ea typeface="Montserrat"/>
                <a:cs typeface="Montserrat"/>
                <a:sym typeface="Montserrat"/>
              </a:rPr>
              <a:t>JH-SIC </a:t>
            </a:r>
            <a:r>
              <a:rPr lang="en-GB" sz="1120" b="1" dirty="0" smtClean="0">
                <a:solidFill>
                  <a:srgbClr val="000000"/>
                </a:solidFill>
                <a:latin typeface="Montserrat"/>
                <a:ea typeface="Montserrat"/>
                <a:cs typeface="Montserrat"/>
                <a:sym typeface="Montserrat"/>
              </a:rPr>
              <a:t>2024 </a:t>
            </a:r>
            <a:r>
              <a:rPr lang="en-GB" sz="1120" b="1" dirty="0">
                <a:solidFill>
                  <a:srgbClr val="000000"/>
                </a:solidFill>
                <a:latin typeface="Montserrat"/>
                <a:ea typeface="Montserrat"/>
                <a:cs typeface="Montserrat"/>
                <a:sym typeface="Montserrat"/>
              </a:rPr>
              <a:t>NVCTI, IIT (ISM) DHANBAD</a:t>
            </a:r>
            <a:endParaRPr sz="1120" b="1" dirty="0">
              <a:solidFill>
                <a:srgbClr val="000000"/>
              </a:solidFill>
              <a:latin typeface="Montserrat"/>
              <a:ea typeface="Montserrat"/>
              <a:cs typeface="Montserrat"/>
              <a:sym typeface="Montserrat"/>
            </a:endParaRPr>
          </a:p>
        </p:txBody>
      </p:sp>
      <p:pic>
        <p:nvPicPr>
          <p:cNvPr id="56" name="Google Shape;56;p1"/>
          <p:cNvPicPr preferRelativeResize="0"/>
          <p:nvPr/>
        </p:nvPicPr>
        <p:blipFill rotWithShape="1">
          <a:blip r:embed="rId3">
            <a:alphaModFix/>
          </a:blip>
          <a:srcRect/>
          <a:stretch/>
        </p:blipFill>
        <p:spPr>
          <a:xfrm>
            <a:off x="7521150" y="121300"/>
            <a:ext cx="630800" cy="630800"/>
          </a:xfrm>
          <a:prstGeom prst="rect">
            <a:avLst/>
          </a:prstGeom>
          <a:noFill/>
          <a:ln>
            <a:noFill/>
          </a:ln>
        </p:spPr>
      </p:pic>
      <p:pic>
        <p:nvPicPr>
          <p:cNvPr id="57" name="Google Shape;57;p1"/>
          <p:cNvPicPr preferRelativeResize="0"/>
          <p:nvPr/>
        </p:nvPicPr>
        <p:blipFill rotWithShape="1">
          <a:blip r:embed="rId4">
            <a:alphaModFix/>
          </a:blip>
          <a:srcRect/>
          <a:stretch/>
        </p:blipFill>
        <p:spPr>
          <a:xfrm>
            <a:off x="8201500" y="111687"/>
            <a:ext cx="630801" cy="650032"/>
          </a:xfrm>
          <a:prstGeom prst="rect">
            <a:avLst/>
          </a:prstGeom>
          <a:noFill/>
          <a:ln>
            <a:noFill/>
          </a:ln>
        </p:spPr>
      </p:pic>
      <p:cxnSp>
        <p:nvCxnSpPr>
          <p:cNvPr id="58" name="Google Shape;58;p1"/>
          <p:cNvCxnSpPr/>
          <p:nvPr/>
        </p:nvCxnSpPr>
        <p:spPr>
          <a:xfrm>
            <a:off x="424575" y="3651575"/>
            <a:ext cx="0" cy="1116000"/>
          </a:xfrm>
          <a:prstGeom prst="straightConnector1">
            <a:avLst/>
          </a:prstGeom>
          <a:noFill/>
          <a:ln w="28575" cap="flat" cmpd="sng">
            <a:solidFill>
              <a:srgbClr val="5B0F00"/>
            </a:solidFill>
            <a:prstDash val="solid"/>
            <a:round/>
            <a:headEnd type="none" w="sm" len="sm"/>
            <a:tailEnd type="none" w="sm" len="sm"/>
          </a:ln>
        </p:spPr>
      </p:cxnSp>
      <p:cxnSp>
        <p:nvCxnSpPr>
          <p:cNvPr id="59" name="Google Shape;59;p1"/>
          <p:cNvCxnSpPr/>
          <p:nvPr/>
        </p:nvCxnSpPr>
        <p:spPr>
          <a:xfrm rot="10800000" flipH="1">
            <a:off x="424575" y="4767575"/>
            <a:ext cx="3045000" cy="12000"/>
          </a:xfrm>
          <a:prstGeom prst="straightConnector1">
            <a:avLst/>
          </a:prstGeom>
          <a:noFill/>
          <a:ln w="28575" cap="flat" cmpd="sng">
            <a:solidFill>
              <a:srgbClr val="5B0F00"/>
            </a:solidFill>
            <a:prstDash val="solid"/>
            <a:round/>
            <a:headEnd type="none" w="sm" len="sm"/>
            <a:tailEnd type="none" w="sm" len="sm"/>
          </a:ln>
        </p:spPr>
      </p:cxnSp>
      <p:sp>
        <p:nvSpPr>
          <p:cNvPr id="60" name="Google Shape;60;p1"/>
          <p:cNvSpPr/>
          <p:nvPr/>
        </p:nvSpPr>
        <p:spPr>
          <a:xfrm>
            <a:off x="336675" y="4682825"/>
            <a:ext cx="175800" cy="181500"/>
          </a:xfrm>
          <a:prstGeom prst="ellipse">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
          <p:cNvSpPr/>
          <p:nvPr/>
        </p:nvSpPr>
        <p:spPr>
          <a:xfrm>
            <a:off x="0" y="0"/>
            <a:ext cx="13344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1"/>
          <p:cNvSpPr/>
          <p:nvPr/>
        </p:nvSpPr>
        <p:spPr>
          <a:xfrm rot="10800000">
            <a:off x="7703050" y="3214675"/>
            <a:ext cx="14436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latin typeface="Arial"/>
                <a:ea typeface="Arial"/>
                <a:cs typeface="Arial"/>
                <a:sym typeface="Arial"/>
              </a:rPr>
              <a:t>1</a:t>
            </a:fld>
            <a:endParaRPr>
              <a:latin typeface="Arial"/>
              <a:ea typeface="Arial"/>
              <a:cs typeface="Arial"/>
              <a:sym typeface="Arial"/>
            </a:endParaRPr>
          </a:p>
        </p:txBody>
      </p:sp>
      <p:sp>
        <p:nvSpPr>
          <p:cNvPr id="64" name="Google Shape;64;p1"/>
          <p:cNvSpPr txBox="1"/>
          <p:nvPr/>
        </p:nvSpPr>
        <p:spPr>
          <a:xfrm>
            <a:off x="821066" y="1534259"/>
            <a:ext cx="7779000" cy="338551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700"/>
              <a:buFont typeface="Arial"/>
              <a:buNone/>
            </a:pPr>
            <a:r>
              <a:rPr lang="en-GB" sz="1700" b="1" i="0" u="none" strike="noStrike" cap="none" dirty="0">
                <a:solidFill>
                  <a:schemeClr val="dk2"/>
                </a:solidFill>
                <a:latin typeface="Montserrat"/>
                <a:ea typeface="Montserrat"/>
                <a:cs typeface="Montserrat"/>
                <a:sym typeface="Montserrat"/>
              </a:rPr>
              <a:t>Team Leader: </a:t>
            </a:r>
            <a:r>
              <a:rPr lang="en-GB" sz="1700" b="1" i="0" u="none" strike="noStrike" cap="none" dirty="0" err="1" smtClean="0">
                <a:solidFill>
                  <a:schemeClr val="dk2"/>
                </a:solidFill>
                <a:latin typeface="Montserrat"/>
                <a:ea typeface="Montserrat"/>
                <a:cs typeface="Montserrat"/>
                <a:sym typeface="Montserrat"/>
              </a:rPr>
              <a:t>Aarosh</a:t>
            </a:r>
            <a:r>
              <a:rPr lang="en-GB" sz="1700" b="1" i="0" u="none" strike="noStrike" cap="none" dirty="0" smtClean="0">
                <a:solidFill>
                  <a:schemeClr val="dk2"/>
                </a:solidFill>
                <a:latin typeface="Montserrat"/>
                <a:ea typeface="Montserrat"/>
                <a:cs typeface="Montserrat"/>
                <a:sym typeface="Montserrat"/>
              </a:rPr>
              <a:t> </a:t>
            </a:r>
            <a:r>
              <a:rPr lang="en-GB" sz="1700" b="1" dirty="0" err="1" smtClean="0">
                <a:solidFill>
                  <a:schemeClr val="dk2"/>
                </a:solidFill>
                <a:latin typeface="Montserrat"/>
                <a:ea typeface="Montserrat"/>
                <a:cs typeface="Montserrat"/>
                <a:sym typeface="Montserrat"/>
              </a:rPr>
              <a:t>K</a:t>
            </a:r>
            <a:r>
              <a:rPr lang="en-GB" sz="1700" b="1" i="0" u="none" strike="noStrike" cap="none" dirty="0" err="1" smtClean="0">
                <a:solidFill>
                  <a:schemeClr val="dk2"/>
                </a:solidFill>
                <a:latin typeface="Montserrat"/>
                <a:ea typeface="Montserrat"/>
                <a:cs typeface="Montserrat"/>
                <a:sym typeface="Montserrat"/>
              </a:rPr>
              <a:t>araK</a:t>
            </a:r>
            <a:endParaRPr sz="1700" b="1" i="0" u="none" strike="noStrike" cap="none" dirty="0">
              <a:solidFill>
                <a:schemeClr val="dk2"/>
              </a:solidFill>
              <a:latin typeface="Montserrat"/>
              <a:ea typeface="Montserrat"/>
              <a:cs typeface="Montserrat"/>
              <a:sym typeface="Montserrat"/>
            </a:endParaRPr>
          </a:p>
          <a:p>
            <a:pPr marL="0" marR="0" lvl="0" indent="0" algn="l" rtl="0">
              <a:lnSpc>
                <a:spcPct val="115000"/>
              </a:lnSpc>
              <a:spcBef>
                <a:spcPts val="1200"/>
              </a:spcBef>
              <a:spcAft>
                <a:spcPts val="0"/>
              </a:spcAft>
              <a:buClr>
                <a:srgbClr val="000000"/>
              </a:buClr>
              <a:buSzPts val="1700"/>
              <a:buFont typeface="Arial"/>
              <a:buNone/>
            </a:pPr>
            <a:r>
              <a:rPr lang="en-GB" sz="1700" b="1" i="0" u="none" strike="noStrike" cap="none" dirty="0">
                <a:solidFill>
                  <a:schemeClr val="dk2"/>
                </a:solidFill>
                <a:latin typeface="Montserrat"/>
                <a:ea typeface="Montserrat"/>
                <a:cs typeface="Montserrat"/>
                <a:sym typeface="Montserrat"/>
              </a:rPr>
              <a:t>Team </a:t>
            </a:r>
            <a:r>
              <a:rPr lang="en-GB" sz="1700" b="1" i="0" u="none" strike="noStrike" cap="none" dirty="0" err="1" smtClean="0">
                <a:solidFill>
                  <a:schemeClr val="dk2"/>
                </a:solidFill>
                <a:latin typeface="Montserrat"/>
                <a:ea typeface="Montserrat"/>
                <a:cs typeface="Montserrat"/>
                <a:sym typeface="Montserrat"/>
              </a:rPr>
              <a:t>Members:N</a:t>
            </a:r>
            <a:r>
              <a:rPr lang="en-GB" sz="1700" b="1" i="0" u="none" strike="noStrike" cap="none" dirty="0" smtClean="0">
                <a:solidFill>
                  <a:schemeClr val="dk2"/>
                </a:solidFill>
                <a:latin typeface="Montserrat"/>
                <a:ea typeface="Montserrat"/>
                <a:cs typeface="Montserrat"/>
                <a:sym typeface="Montserrat"/>
              </a:rPr>
              <a:t>/A</a:t>
            </a:r>
            <a:endParaRPr sz="1700" b="1" i="0" u="none" strike="noStrike" cap="none" dirty="0">
              <a:solidFill>
                <a:schemeClr val="dk2"/>
              </a:solidFill>
              <a:latin typeface="Montserrat"/>
              <a:ea typeface="Montserrat"/>
              <a:cs typeface="Montserrat"/>
              <a:sym typeface="Montserrat"/>
            </a:endParaRPr>
          </a:p>
          <a:p>
            <a:pPr marL="0" marR="0" lvl="0" indent="0" algn="l" rtl="0">
              <a:lnSpc>
                <a:spcPct val="115000"/>
              </a:lnSpc>
              <a:spcBef>
                <a:spcPts val="1200"/>
              </a:spcBef>
              <a:spcAft>
                <a:spcPts val="0"/>
              </a:spcAft>
              <a:buClr>
                <a:srgbClr val="000000"/>
              </a:buClr>
              <a:buSzPts val="1700"/>
              <a:buFont typeface="Arial"/>
              <a:buNone/>
            </a:pPr>
            <a:r>
              <a:rPr lang="en-GB" sz="1700" b="1" i="0" u="none" strike="noStrike" cap="none" dirty="0">
                <a:solidFill>
                  <a:schemeClr val="dk2"/>
                </a:solidFill>
                <a:latin typeface="Montserrat"/>
                <a:ea typeface="Montserrat"/>
                <a:cs typeface="Montserrat"/>
                <a:sym typeface="Montserrat"/>
              </a:rPr>
              <a:t>Name of the </a:t>
            </a:r>
            <a:r>
              <a:rPr lang="en-GB" sz="1700" b="1" i="0" u="none" strike="noStrike" cap="none" dirty="0" smtClean="0">
                <a:solidFill>
                  <a:schemeClr val="dk2"/>
                </a:solidFill>
                <a:latin typeface="Montserrat"/>
                <a:ea typeface="Montserrat"/>
                <a:cs typeface="Montserrat"/>
                <a:sym typeface="Montserrat"/>
              </a:rPr>
              <a:t>School: Hill Top School</a:t>
            </a:r>
            <a:endParaRPr sz="1700" b="1" i="0" u="none" strike="noStrike" cap="none" dirty="0">
              <a:solidFill>
                <a:schemeClr val="dk2"/>
              </a:solidFill>
              <a:latin typeface="Montserrat"/>
              <a:ea typeface="Montserrat"/>
              <a:cs typeface="Montserrat"/>
              <a:sym typeface="Montserrat"/>
            </a:endParaRPr>
          </a:p>
          <a:p>
            <a:pPr marL="0" marR="0" lvl="0" indent="0" algn="l" rtl="0">
              <a:lnSpc>
                <a:spcPct val="115000"/>
              </a:lnSpc>
              <a:spcBef>
                <a:spcPts val="1200"/>
              </a:spcBef>
              <a:spcAft>
                <a:spcPts val="0"/>
              </a:spcAft>
              <a:buClr>
                <a:srgbClr val="000000"/>
              </a:buClr>
              <a:buSzPts val="1700"/>
              <a:buFont typeface="Arial"/>
              <a:buNone/>
            </a:pPr>
            <a:r>
              <a:rPr lang="en-GB" sz="1700" b="1" i="0" u="none" strike="noStrike" cap="none" dirty="0" smtClean="0">
                <a:solidFill>
                  <a:schemeClr val="dk2"/>
                </a:solidFill>
                <a:latin typeface="Montserrat"/>
                <a:ea typeface="Montserrat"/>
                <a:cs typeface="Montserrat"/>
                <a:sym typeface="Montserrat"/>
              </a:rPr>
              <a:t>District: East </a:t>
            </a:r>
            <a:r>
              <a:rPr lang="en-GB" sz="1700" b="1" i="0" u="none" strike="noStrike" cap="none" dirty="0" err="1" smtClean="0">
                <a:solidFill>
                  <a:schemeClr val="dk2"/>
                </a:solidFill>
                <a:latin typeface="Montserrat"/>
                <a:ea typeface="Montserrat"/>
                <a:cs typeface="Montserrat"/>
                <a:sym typeface="Montserrat"/>
              </a:rPr>
              <a:t>Singhbhum</a:t>
            </a:r>
            <a:endParaRPr lang="en-GB" sz="1700" b="1" i="0" u="none" strike="noStrike" cap="none" dirty="0" smtClean="0">
              <a:solidFill>
                <a:schemeClr val="dk2"/>
              </a:solidFill>
              <a:latin typeface="Montserrat"/>
              <a:ea typeface="Montserrat"/>
              <a:cs typeface="Montserrat"/>
              <a:sym typeface="Montserrat"/>
            </a:endParaRPr>
          </a:p>
          <a:p>
            <a:pPr marL="0" marR="0" lvl="0" indent="0" algn="l" rtl="0">
              <a:lnSpc>
                <a:spcPct val="115000"/>
              </a:lnSpc>
              <a:spcBef>
                <a:spcPts val="1200"/>
              </a:spcBef>
              <a:spcAft>
                <a:spcPts val="0"/>
              </a:spcAft>
              <a:buClr>
                <a:srgbClr val="000000"/>
              </a:buClr>
              <a:buSzPts val="1700"/>
              <a:buFont typeface="Arial"/>
              <a:buNone/>
            </a:pPr>
            <a:r>
              <a:rPr lang="en-GB" sz="1700" b="1" dirty="0" smtClean="0">
                <a:solidFill>
                  <a:schemeClr val="dk2"/>
                </a:solidFill>
                <a:latin typeface="Montserrat"/>
                <a:ea typeface="Montserrat"/>
                <a:cs typeface="Montserrat"/>
                <a:sym typeface="Montserrat"/>
              </a:rPr>
              <a:t>Category (Junior/Senior): Senior</a:t>
            </a:r>
            <a:endParaRPr sz="1700" b="1" i="0" u="none" strike="noStrike" cap="none" dirty="0">
              <a:solidFill>
                <a:schemeClr val="dk2"/>
              </a:solidFill>
              <a:latin typeface="Montserrat"/>
              <a:ea typeface="Montserrat"/>
              <a:cs typeface="Montserrat"/>
              <a:sym typeface="Montserrat"/>
            </a:endParaRPr>
          </a:p>
          <a:p>
            <a:pPr marL="0" marR="0" lvl="0" indent="0" algn="l" rtl="0">
              <a:lnSpc>
                <a:spcPct val="115000"/>
              </a:lnSpc>
              <a:spcBef>
                <a:spcPts val="1200"/>
              </a:spcBef>
              <a:spcAft>
                <a:spcPts val="0"/>
              </a:spcAft>
              <a:buClr>
                <a:srgbClr val="000000"/>
              </a:buClr>
              <a:buSzPts val="1700"/>
              <a:buFont typeface="Arial"/>
              <a:buNone/>
            </a:pPr>
            <a:r>
              <a:rPr lang="en-GB" sz="1700" b="1" dirty="0" smtClean="0">
                <a:solidFill>
                  <a:schemeClr val="dk2"/>
                </a:solidFill>
                <a:latin typeface="Montserrat"/>
                <a:ea typeface="Montserrat"/>
                <a:cs typeface="Montserrat"/>
                <a:sym typeface="Montserrat"/>
              </a:rPr>
              <a:t>School Registration No.</a:t>
            </a:r>
            <a:r>
              <a:rPr lang="en-GB" sz="1700" b="1" i="0" u="none" strike="noStrike" cap="none" dirty="0" smtClean="0">
                <a:solidFill>
                  <a:schemeClr val="dk2"/>
                </a:solidFill>
                <a:latin typeface="Montserrat"/>
                <a:ea typeface="Montserrat"/>
                <a:cs typeface="Montserrat"/>
                <a:sym typeface="Montserrat"/>
              </a:rPr>
              <a:t>:1115</a:t>
            </a:r>
            <a:endParaRPr sz="1700" b="1" i="0" u="none" strike="noStrike" cap="none" dirty="0">
              <a:solidFill>
                <a:schemeClr val="dk2"/>
              </a:solidFill>
              <a:latin typeface="Montserrat"/>
              <a:ea typeface="Montserrat"/>
              <a:cs typeface="Montserrat"/>
              <a:sym typeface="Montserrat"/>
            </a:endParaRPr>
          </a:p>
          <a:p>
            <a:pPr lvl="0">
              <a:lnSpc>
                <a:spcPct val="115000"/>
              </a:lnSpc>
              <a:spcBef>
                <a:spcPts val="1200"/>
              </a:spcBef>
              <a:spcAft>
                <a:spcPts val="1200"/>
              </a:spcAft>
              <a:buSzPts val="1700"/>
            </a:pPr>
            <a:r>
              <a:rPr lang="en-GB" sz="1700" b="1" i="0" u="none" strike="noStrike" cap="none" dirty="0">
                <a:solidFill>
                  <a:schemeClr val="dk2"/>
                </a:solidFill>
                <a:latin typeface="Montserrat"/>
                <a:ea typeface="Montserrat"/>
                <a:cs typeface="Montserrat"/>
                <a:sym typeface="Montserrat"/>
              </a:rPr>
              <a:t>Broad Theme of the </a:t>
            </a:r>
            <a:r>
              <a:rPr lang="en-GB" sz="1700" b="1" i="0" u="none" strike="noStrike" cap="none" dirty="0" smtClean="0">
                <a:solidFill>
                  <a:schemeClr val="dk2"/>
                </a:solidFill>
                <a:latin typeface="Montserrat"/>
                <a:ea typeface="Montserrat"/>
                <a:cs typeface="Montserrat"/>
                <a:sym typeface="Montserrat"/>
              </a:rPr>
              <a:t>Idea: </a:t>
            </a:r>
            <a:r>
              <a:rPr lang="en-IN" sz="1800" b="1" dirty="0" smtClean="0">
                <a:solidFill>
                  <a:schemeClr val="tx1">
                    <a:lumMod val="75000"/>
                    <a:lumOff val="25000"/>
                  </a:schemeClr>
                </a:solidFill>
                <a:latin typeface="Montserrat" panose="00000500000000000000" pitchFamily="2" charset="0"/>
              </a:rPr>
              <a:t>Seizure </a:t>
            </a:r>
            <a:r>
              <a:rPr lang="en-IN" sz="1800" b="1" dirty="0">
                <a:solidFill>
                  <a:schemeClr val="tx1">
                    <a:lumMod val="75000"/>
                    <a:lumOff val="25000"/>
                  </a:schemeClr>
                </a:solidFill>
                <a:latin typeface="Montserrat" panose="00000500000000000000" pitchFamily="2" charset="0"/>
              </a:rPr>
              <a:t>detection watch</a:t>
            </a:r>
            <a:endParaRPr sz="1700" b="1" i="0" strike="noStrike" cap="none" dirty="0">
              <a:solidFill>
                <a:schemeClr val="tx1">
                  <a:lumMod val="75000"/>
                  <a:lumOff val="25000"/>
                </a:schemeClr>
              </a:solidFill>
              <a:latin typeface="Montserrat" panose="00000500000000000000" pitchFamily="2" charset="0"/>
              <a:ea typeface="Montserrat"/>
              <a:cs typeface="Montserrat"/>
              <a:sym typeface="Montserra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
        <p:cNvGrpSpPr/>
        <p:nvPr/>
      </p:nvGrpSpPr>
      <p:grpSpPr>
        <a:xfrm>
          <a:off x="0" y="0"/>
          <a:ext cx="0" cy="0"/>
          <a:chOff x="0" y="0"/>
          <a:chExt cx="0" cy="0"/>
        </a:xfrm>
      </p:grpSpPr>
      <p:sp>
        <p:nvSpPr>
          <p:cNvPr id="69" name="Google Shape;69;p2"/>
          <p:cNvSpPr txBox="1">
            <a:spLocks noGrp="1"/>
          </p:cNvSpPr>
          <p:nvPr>
            <p:ph type="ctrTitle"/>
          </p:nvPr>
        </p:nvSpPr>
        <p:spPr>
          <a:xfrm>
            <a:off x="311700" y="111650"/>
            <a:ext cx="8520600" cy="6501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32351"/>
              <a:buFont typeface="Arial"/>
              <a:buNone/>
            </a:pPr>
            <a:r>
              <a:rPr lang="en-GB" sz="3400" b="1" u="sng">
                <a:solidFill>
                  <a:srgbClr val="20124D"/>
                </a:solidFill>
                <a:latin typeface="Montserrat"/>
                <a:ea typeface="Montserrat"/>
                <a:cs typeface="Montserrat"/>
                <a:sym typeface="Montserrat"/>
              </a:rPr>
              <a:t>Introduction</a:t>
            </a:r>
            <a:endParaRPr>
              <a:solidFill>
                <a:srgbClr val="20124D"/>
              </a:solidFill>
              <a:latin typeface="Montserrat"/>
              <a:ea typeface="Montserrat"/>
              <a:cs typeface="Montserrat"/>
              <a:sym typeface="Montserrat"/>
            </a:endParaRPr>
          </a:p>
        </p:txBody>
      </p:sp>
      <p:sp>
        <p:nvSpPr>
          <p:cNvPr id="70" name="Google Shape;70;p2"/>
          <p:cNvSpPr txBox="1">
            <a:spLocks noGrp="1"/>
          </p:cNvSpPr>
          <p:nvPr>
            <p:ph type="subTitle" idx="1"/>
          </p:nvPr>
        </p:nvSpPr>
        <p:spPr>
          <a:xfrm>
            <a:off x="369825" y="4779575"/>
            <a:ext cx="3154500" cy="462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40"/>
              <a:buNone/>
            </a:pPr>
            <a:r>
              <a:rPr lang="en-GB" sz="1120" b="1" dirty="0">
                <a:solidFill>
                  <a:srgbClr val="000000"/>
                </a:solidFill>
                <a:latin typeface="Montserrat"/>
                <a:ea typeface="Montserrat"/>
                <a:cs typeface="Montserrat"/>
                <a:sym typeface="Montserrat"/>
              </a:rPr>
              <a:t>JH-SIC </a:t>
            </a:r>
            <a:r>
              <a:rPr lang="en-GB" sz="1120" b="1" dirty="0" smtClean="0">
                <a:solidFill>
                  <a:srgbClr val="000000"/>
                </a:solidFill>
                <a:latin typeface="Montserrat"/>
                <a:ea typeface="Montserrat"/>
                <a:cs typeface="Montserrat"/>
                <a:sym typeface="Montserrat"/>
              </a:rPr>
              <a:t>2024 </a:t>
            </a:r>
            <a:r>
              <a:rPr lang="en-GB" sz="1120" b="1" dirty="0">
                <a:solidFill>
                  <a:srgbClr val="000000"/>
                </a:solidFill>
                <a:latin typeface="Montserrat"/>
                <a:ea typeface="Montserrat"/>
                <a:cs typeface="Montserrat"/>
                <a:sym typeface="Montserrat"/>
              </a:rPr>
              <a:t>NVCTI, IIT (ISM) DHANBAD</a:t>
            </a:r>
            <a:endParaRPr sz="1120" b="1" dirty="0">
              <a:solidFill>
                <a:srgbClr val="000000"/>
              </a:solidFill>
              <a:latin typeface="Montserrat"/>
              <a:ea typeface="Montserrat"/>
              <a:cs typeface="Montserrat"/>
              <a:sym typeface="Montserrat"/>
            </a:endParaRPr>
          </a:p>
        </p:txBody>
      </p:sp>
      <p:pic>
        <p:nvPicPr>
          <p:cNvPr id="71" name="Google Shape;71;p2"/>
          <p:cNvPicPr preferRelativeResize="0"/>
          <p:nvPr/>
        </p:nvPicPr>
        <p:blipFill rotWithShape="1">
          <a:blip r:embed="rId3">
            <a:alphaModFix/>
          </a:blip>
          <a:srcRect/>
          <a:stretch/>
        </p:blipFill>
        <p:spPr>
          <a:xfrm>
            <a:off x="7521150" y="121300"/>
            <a:ext cx="630800" cy="630800"/>
          </a:xfrm>
          <a:prstGeom prst="rect">
            <a:avLst/>
          </a:prstGeom>
          <a:noFill/>
          <a:ln>
            <a:noFill/>
          </a:ln>
        </p:spPr>
      </p:pic>
      <p:pic>
        <p:nvPicPr>
          <p:cNvPr id="72" name="Google Shape;72;p2"/>
          <p:cNvPicPr preferRelativeResize="0"/>
          <p:nvPr/>
        </p:nvPicPr>
        <p:blipFill rotWithShape="1">
          <a:blip r:embed="rId4">
            <a:alphaModFix/>
          </a:blip>
          <a:srcRect/>
          <a:stretch/>
        </p:blipFill>
        <p:spPr>
          <a:xfrm>
            <a:off x="8201500" y="111687"/>
            <a:ext cx="630801" cy="650032"/>
          </a:xfrm>
          <a:prstGeom prst="rect">
            <a:avLst/>
          </a:prstGeom>
          <a:noFill/>
          <a:ln>
            <a:noFill/>
          </a:ln>
        </p:spPr>
      </p:pic>
      <p:cxnSp>
        <p:nvCxnSpPr>
          <p:cNvPr id="73" name="Google Shape;73;p2"/>
          <p:cNvCxnSpPr/>
          <p:nvPr/>
        </p:nvCxnSpPr>
        <p:spPr>
          <a:xfrm>
            <a:off x="424575" y="3651575"/>
            <a:ext cx="0" cy="1116000"/>
          </a:xfrm>
          <a:prstGeom prst="straightConnector1">
            <a:avLst/>
          </a:prstGeom>
          <a:noFill/>
          <a:ln w="28575" cap="flat" cmpd="sng">
            <a:solidFill>
              <a:srgbClr val="5B0F00"/>
            </a:solidFill>
            <a:prstDash val="solid"/>
            <a:round/>
            <a:headEnd type="none" w="sm" len="sm"/>
            <a:tailEnd type="none" w="sm" len="sm"/>
          </a:ln>
        </p:spPr>
      </p:cxnSp>
      <p:cxnSp>
        <p:nvCxnSpPr>
          <p:cNvPr id="74" name="Google Shape;74;p2"/>
          <p:cNvCxnSpPr/>
          <p:nvPr/>
        </p:nvCxnSpPr>
        <p:spPr>
          <a:xfrm rot="10800000" flipH="1">
            <a:off x="424575" y="4767575"/>
            <a:ext cx="3045000" cy="12000"/>
          </a:xfrm>
          <a:prstGeom prst="straightConnector1">
            <a:avLst/>
          </a:prstGeom>
          <a:noFill/>
          <a:ln w="28575" cap="flat" cmpd="sng">
            <a:solidFill>
              <a:srgbClr val="5B0F00"/>
            </a:solidFill>
            <a:prstDash val="solid"/>
            <a:round/>
            <a:headEnd type="none" w="sm" len="sm"/>
            <a:tailEnd type="none" w="sm" len="sm"/>
          </a:ln>
        </p:spPr>
      </p:cxnSp>
      <p:sp>
        <p:nvSpPr>
          <p:cNvPr id="75" name="Google Shape;75;p2"/>
          <p:cNvSpPr/>
          <p:nvPr/>
        </p:nvSpPr>
        <p:spPr>
          <a:xfrm>
            <a:off x="336675" y="4682825"/>
            <a:ext cx="175800" cy="181500"/>
          </a:xfrm>
          <a:prstGeom prst="ellipse">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2"/>
          <p:cNvSpPr/>
          <p:nvPr/>
        </p:nvSpPr>
        <p:spPr>
          <a:xfrm>
            <a:off x="0" y="0"/>
            <a:ext cx="13344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2"/>
          <p:cNvSpPr/>
          <p:nvPr/>
        </p:nvSpPr>
        <p:spPr>
          <a:xfrm rot="10800000">
            <a:off x="7703050" y="3214675"/>
            <a:ext cx="14436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latin typeface="Arial"/>
                <a:ea typeface="Arial"/>
                <a:cs typeface="Arial"/>
                <a:sym typeface="Arial"/>
              </a:rPr>
              <a:t>2</a:t>
            </a:fld>
            <a:endParaRPr>
              <a:latin typeface="Arial"/>
              <a:ea typeface="Arial"/>
              <a:cs typeface="Arial"/>
              <a:sym typeface="Arial"/>
            </a:endParaRPr>
          </a:p>
        </p:txBody>
      </p:sp>
      <p:sp>
        <p:nvSpPr>
          <p:cNvPr id="79" name="Google Shape;79;p2"/>
          <p:cNvSpPr txBox="1"/>
          <p:nvPr/>
        </p:nvSpPr>
        <p:spPr>
          <a:xfrm>
            <a:off x="512474" y="980888"/>
            <a:ext cx="8508683" cy="2147229"/>
          </a:xfrm>
          <a:prstGeom prst="rect">
            <a:avLst/>
          </a:prstGeom>
          <a:noFill/>
          <a:ln>
            <a:noFill/>
          </a:ln>
        </p:spPr>
        <p:txBody>
          <a:bodyPr spcFirstLastPara="1" wrap="square" lIns="91425" tIns="91425" rIns="91425" bIns="91425" anchor="t" anchorCtr="0">
            <a:normAutofit/>
          </a:bodyPr>
          <a:lstStyle/>
          <a:p>
            <a:pPr marL="285750" lvl="0" indent="-285750" algn="just">
              <a:lnSpc>
                <a:spcPct val="115000"/>
              </a:lnSpc>
              <a:buSzPts val="1800"/>
              <a:buFont typeface="Arial"/>
              <a:buChar char="•"/>
            </a:pPr>
            <a:r>
              <a:rPr lang="en-US" sz="1600" dirty="0"/>
              <a:t>The Epilepsy Detection Watch is a cutting-edge wearable device designed to monitor and detect epileptic seizures in real-time, offering a critical tool for individuals with epilepsy. By offering reliable seizure detection and immediate support, the Epilepsy Detection Watch enhances safety, provides peace of mind, and improves the quality of life for those living with epilepsy.</a:t>
            </a:r>
            <a:endParaRPr sz="1600" b="0" i="0" u="none" strike="noStrike" cap="none" dirty="0">
              <a:solidFill>
                <a:srgbClr val="595959"/>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700"/>
              <a:buFont typeface="Arial"/>
              <a:buNone/>
            </a:pPr>
            <a:endParaRPr sz="1700" b="1" i="0" u="none" strike="noStrike" cap="none" dirty="0">
              <a:solidFill>
                <a:srgbClr val="595959"/>
              </a:solidFill>
              <a:latin typeface="Lato"/>
              <a:ea typeface="Lato"/>
              <a:cs typeface="Lato"/>
              <a:sym typeface="Lato"/>
            </a:endParaRPr>
          </a:p>
        </p:txBody>
      </p:sp>
      <p:sp>
        <p:nvSpPr>
          <p:cNvPr id="80" name="Google Shape;80;p2"/>
          <p:cNvSpPr txBox="1"/>
          <p:nvPr/>
        </p:nvSpPr>
        <p:spPr>
          <a:xfrm>
            <a:off x="512474" y="2647142"/>
            <a:ext cx="29979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GB" sz="1700" b="1" i="0" u="sng" strike="noStrike" cap="none">
                <a:solidFill>
                  <a:srgbClr val="20124D"/>
                </a:solidFill>
                <a:latin typeface="Montserrat"/>
                <a:ea typeface="Montserrat"/>
                <a:cs typeface="Montserrat"/>
                <a:sym typeface="Montserrat"/>
              </a:rPr>
              <a:t>Genesis of the Idea</a:t>
            </a:r>
            <a:endParaRPr sz="100" b="1" i="0" u="sng" strike="noStrike" cap="none">
              <a:solidFill>
                <a:srgbClr val="20124D"/>
              </a:solidFill>
              <a:latin typeface="Arial"/>
              <a:ea typeface="Arial"/>
              <a:cs typeface="Arial"/>
              <a:sym typeface="Arial"/>
            </a:endParaRPr>
          </a:p>
        </p:txBody>
      </p:sp>
      <p:sp>
        <p:nvSpPr>
          <p:cNvPr id="81" name="Google Shape;81;p2"/>
          <p:cNvSpPr txBox="1"/>
          <p:nvPr/>
        </p:nvSpPr>
        <p:spPr>
          <a:xfrm>
            <a:off x="479326" y="2941778"/>
            <a:ext cx="7840200" cy="2474493"/>
          </a:xfrm>
          <a:prstGeom prst="rect">
            <a:avLst/>
          </a:prstGeom>
          <a:noFill/>
          <a:ln>
            <a:noFill/>
          </a:ln>
        </p:spPr>
        <p:txBody>
          <a:bodyPr spcFirstLastPara="1" wrap="square" lIns="91425" tIns="91425" rIns="91425" bIns="91425" anchor="t" anchorCtr="0">
            <a:spAutoFit/>
          </a:bodyPr>
          <a:lstStyle/>
          <a:p>
            <a:pPr marL="285750" indent="-196850">
              <a:lnSpc>
                <a:spcPct val="115000"/>
              </a:lnSpc>
              <a:buSzPts val="1400"/>
            </a:pPr>
            <a:endParaRPr lang="en-IN" dirty="0" smtClean="0"/>
          </a:p>
          <a:p>
            <a:pPr marL="285750" indent="-196850">
              <a:lnSpc>
                <a:spcPct val="115000"/>
              </a:lnSpc>
              <a:buSzPts val="1400"/>
            </a:pPr>
            <a:r>
              <a:rPr lang="en-IN" dirty="0" smtClean="0"/>
              <a:t>A </a:t>
            </a:r>
            <a:r>
              <a:rPr lang="en-IN" dirty="0"/>
              <a:t>few months ago, we experienced an incident in our family where someone had seized for </a:t>
            </a:r>
            <a:r>
              <a:rPr lang="en-IN" dirty="0" smtClean="0"/>
              <a:t>the very </a:t>
            </a:r>
            <a:r>
              <a:rPr lang="en-IN" dirty="0"/>
              <a:t>first time, and no one around could call an ambulance and take the necessary measures to treat the seizure. While this person was taken care of and did not face any major damage, it made me realise that many people go through similar conditions daily, and people around them are not trained to deal with such situations. </a:t>
            </a:r>
          </a:p>
          <a:p>
            <a:pPr marL="285750" marR="0" lvl="0" indent="-196850" rtl="0">
              <a:lnSpc>
                <a:spcPct val="115000"/>
              </a:lnSpc>
              <a:spcBef>
                <a:spcPts val="0"/>
              </a:spcBef>
              <a:spcAft>
                <a:spcPts val="0"/>
              </a:spcAft>
              <a:buClr>
                <a:srgbClr val="000000"/>
              </a:buClr>
              <a:buSzPts val="1400"/>
              <a:buFont typeface="Arial"/>
              <a:buNone/>
            </a:pPr>
            <a:endParaRPr sz="1400" b="0" i="0" u="none" strike="noStrike" cap="none" dirty="0">
              <a:solidFill>
                <a:srgbClr val="666666"/>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400"/>
              <a:buFont typeface="Arial"/>
              <a:buNone/>
            </a:pPr>
            <a:endParaRPr sz="1400" b="1" i="0" u="none" strike="noStrike" cap="none" dirty="0">
              <a:solidFill>
                <a:srgbClr val="666666"/>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5"/>
        <p:cNvGrpSpPr/>
        <p:nvPr/>
      </p:nvGrpSpPr>
      <p:grpSpPr>
        <a:xfrm>
          <a:off x="0" y="0"/>
          <a:ext cx="0" cy="0"/>
          <a:chOff x="0" y="0"/>
          <a:chExt cx="0" cy="0"/>
        </a:xfrm>
      </p:grpSpPr>
      <p:sp>
        <p:nvSpPr>
          <p:cNvPr id="86" name="Google Shape;86;p3"/>
          <p:cNvSpPr txBox="1">
            <a:spLocks noGrp="1"/>
          </p:cNvSpPr>
          <p:nvPr>
            <p:ph type="subTitle" idx="1"/>
          </p:nvPr>
        </p:nvSpPr>
        <p:spPr>
          <a:xfrm>
            <a:off x="369825" y="4779575"/>
            <a:ext cx="3154500" cy="462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40"/>
              <a:buNone/>
            </a:pPr>
            <a:r>
              <a:rPr lang="en-GB" sz="1120" b="1" dirty="0">
                <a:solidFill>
                  <a:srgbClr val="000000"/>
                </a:solidFill>
                <a:latin typeface="Montserrat"/>
                <a:ea typeface="Montserrat"/>
                <a:cs typeface="Montserrat"/>
                <a:sym typeface="Montserrat"/>
              </a:rPr>
              <a:t>JH-SIC </a:t>
            </a:r>
            <a:r>
              <a:rPr lang="en-GB" sz="1120" b="1" dirty="0" smtClean="0">
                <a:solidFill>
                  <a:srgbClr val="000000"/>
                </a:solidFill>
                <a:latin typeface="Montserrat"/>
                <a:ea typeface="Montserrat"/>
                <a:cs typeface="Montserrat"/>
                <a:sym typeface="Montserrat"/>
              </a:rPr>
              <a:t>2024 </a:t>
            </a:r>
            <a:r>
              <a:rPr lang="en-GB" sz="1120" b="1" dirty="0">
                <a:solidFill>
                  <a:srgbClr val="000000"/>
                </a:solidFill>
                <a:latin typeface="Montserrat"/>
                <a:ea typeface="Montserrat"/>
                <a:cs typeface="Montserrat"/>
                <a:sym typeface="Montserrat"/>
              </a:rPr>
              <a:t>NVCTI, IIT (ISM) DHANBAD</a:t>
            </a:r>
            <a:endParaRPr sz="1120" b="1" dirty="0">
              <a:solidFill>
                <a:srgbClr val="000000"/>
              </a:solidFill>
              <a:latin typeface="Montserrat"/>
              <a:ea typeface="Montserrat"/>
              <a:cs typeface="Montserrat"/>
              <a:sym typeface="Montserrat"/>
            </a:endParaRPr>
          </a:p>
        </p:txBody>
      </p:sp>
      <p:pic>
        <p:nvPicPr>
          <p:cNvPr id="87" name="Google Shape;87;p3"/>
          <p:cNvPicPr preferRelativeResize="0"/>
          <p:nvPr/>
        </p:nvPicPr>
        <p:blipFill rotWithShape="1">
          <a:blip r:embed="rId3">
            <a:alphaModFix/>
          </a:blip>
          <a:srcRect/>
          <a:stretch/>
        </p:blipFill>
        <p:spPr>
          <a:xfrm>
            <a:off x="7521150" y="121300"/>
            <a:ext cx="630800" cy="630800"/>
          </a:xfrm>
          <a:prstGeom prst="rect">
            <a:avLst/>
          </a:prstGeom>
          <a:noFill/>
          <a:ln>
            <a:noFill/>
          </a:ln>
        </p:spPr>
      </p:pic>
      <p:pic>
        <p:nvPicPr>
          <p:cNvPr id="88" name="Google Shape;88;p3"/>
          <p:cNvPicPr preferRelativeResize="0"/>
          <p:nvPr/>
        </p:nvPicPr>
        <p:blipFill rotWithShape="1">
          <a:blip r:embed="rId4">
            <a:alphaModFix/>
          </a:blip>
          <a:srcRect/>
          <a:stretch/>
        </p:blipFill>
        <p:spPr>
          <a:xfrm>
            <a:off x="8201500" y="111687"/>
            <a:ext cx="630801" cy="650032"/>
          </a:xfrm>
          <a:prstGeom prst="rect">
            <a:avLst/>
          </a:prstGeom>
          <a:noFill/>
          <a:ln>
            <a:noFill/>
          </a:ln>
        </p:spPr>
      </p:pic>
      <p:cxnSp>
        <p:nvCxnSpPr>
          <p:cNvPr id="89" name="Google Shape;89;p3"/>
          <p:cNvCxnSpPr/>
          <p:nvPr/>
        </p:nvCxnSpPr>
        <p:spPr>
          <a:xfrm>
            <a:off x="424575" y="3651575"/>
            <a:ext cx="0" cy="1116000"/>
          </a:xfrm>
          <a:prstGeom prst="straightConnector1">
            <a:avLst/>
          </a:prstGeom>
          <a:noFill/>
          <a:ln w="28575" cap="flat" cmpd="sng">
            <a:solidFill>
              <a:srgbClr val="5B0F00"/>
            </a:solidFill>
            <a:prstDash val="solid"/>
            <a:round/>
            <a:headEnd type="none" w="sm" len="sm"/>
            <a:tailEnd type="none" w="sm" len="sm"/>
          </a:ln>
        </p:spPr>
      </p:cxnSp>
      <p:cxnSp>
        <p:nvCxnSpPr>
          <p:cNvPr id="90" name="Google Shape;90;p3"/>
          <p:cNvCxnSpPr/>
          <p:nvPr/>
        </p:nvCxnSpPr>
        <p:spPr>
          <a:xfrm rot="10800000" flipH="1">
            <a:off x="424575" y="4767575"/>
            <a:ext cx="3045000" cy="12000"/>
          </a:xfrm>
          <a:prstGeom prst="straightConnector1">
            <a:avLst/>
          </a:prstGeom>
          <a:noFill/>
          <a:ln w="28575" cap="flat" cmpd="sng">
            <a:solidFill>
              <a:srgbClr val="5B0F00"/>
            </a:solidFill>
            <a:prstDash val="solid"/>
            <a:round/>
            <a:headEnd type="none" w="sm" len="sm"/>
            <a:tailEnd type="none" w="sm" len="sm"/>
          </a:ln>
        </p:spPr>
      </p:cxnSp>
      <p:sp>
        <p:nvSpPr>
          <p:cNvPr id="91" name="Google Shape;91;p3"/>
          <p:cNvSpPr/>
          <p:nvPr/>
        </p:nvSpPr>
        <p:spPr>
          <a:xfrm>
            <a:off x="336675" y="4682825"/>
            <a:ext cx="175800" cy="181500"/>
          </a:xfrm>
          <a:prstGeom prst="ellipse">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3"/>
          <p:cNvSpPr/>
          <p:nvPr/>
        </p:nvSpPr>
        <p:spPr>
          <a:xfrm>
            <a:off x="0" y="0"/>
            <a:ext cx="13344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3"/>
          <p:cNvSpPr/>
          <p:nvPr/>
        </p:nvSpPr>
        <p:spPr>
          <a:xfrm rot="10800000">
            <a:off x="7703050" y="3214675"/>
            <a:ext cx="14436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latin typeface="Arial"/>
                <a:ea typeface="Arial"/>
                <a:cs typeface="Arial"/>
                <a:sym typeface="Arial"/>
              </a:rPr>
              <a:t>3</a:t>
            </a:fld>
            <a:endParaRPr>
              <a:latin typeface="Arial"/>
              <a:ea typeface="Arial"/>
              <a:cs typeface="Arial"/>
              <a:sym typeface="Arial"/>
            </a:endParaRPr>
          </a:p>
        </p:txBody>
      </p:sp>
      <p:sp>
        <p:nvSpPr>
          <p:cNvPr id="95" name="Google Shape;95;p3"/>
          <p:cNvSpPr txBox="1"/>
          <p:nvPr/>
        </p:nvSpPr>
        <p:spPr>
          <a:xfrm>
            <a:off x="2025250" y="235750"/>
            <a:ext cx="5239800" cy="15324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ts val="3100"/>
              <a:buFont typeface="Arial"/>
              <a:buNone/>
            </a:pPr>
            <a:r>
              <a:rPr lang="en-GB" sz="3100" b="1" i="0" u="sng" strike="noStrike" cap="none" dirty="0">
                <a:solidFill>
                  <a:srgbClr val="20124D"/>
                </a:solidFill>
                <a:latin typeface="Montserrat"/>
                <a:ea typeface="Montserrat"/>
                <a:cs typeface="Montserrat"/>
                <a:sym typeface="Montserrat"/>
              </a:rPr>
              <a:t>Objectives</a:t>
            </a:r>
            <a:endParaRPr sz="3100" b="1" i="0" u="sng" strike="noStrike" cap="none" dirty="0">
              <a:solidFill>
                <a:srgbClr val="20124D"/>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000000"/>
              </a:buClr>
              <a:buSzPts val="1460"/>
              <a:buFont typeface="Lato"/>
              <a:buNone/>
            </a:pPr>
            <a:endParaRPr sz="1460" b="0" i="0" u="none" strike="noStrike" cap="none" dirty="0">
              <a:solidFill>
                <a:srgbClr val="000000"/>
              </a:solidFill>
              <a:latin typeface="Lato"/>
              <a:ea typeface="Lato"/>
              <a:cs typeface="Lato"/>
              <a:sym typeface="Lato"/>
            </a:endParaRPr>
          </a:p>
          <a:p>
            <a:pPr marL="457200" marR="0" lvl="0" indent="-228600" algn="l" rtl="0">
              <a:lnSpc>
                <a:spcPct val="100000"/>
              </a:lnSpc>
              <a:spcBef>
                <a:spcPts val="0"/>
              </a:spcBef>
              <a:spcAft>
                <a:spcPts val="0"/>
              </a:spcAft>
              <a:buClr>
                <a:srgbClr val="000000"/>
              </a:buClr>
              <a:buSzPts val="1460"/>
              <a:buFont typeface="Lato"/>
              <a:buNone/>
            </a:pPr>
            <a:endParaRPr sz="1460" b="0" i="0" u="none" strike="noStrike" cap="none" dirty="0">
              <a:solidFill>
                <a:srgbClr val="000000"/>
              </a:solidFill>
              <a:latin typeface="Lato"/>
              <a:ea typeface="Lato"/>
              <a:cs typeface="Lato"/>
              <a:sym typeface="Lato"/>
            </a:endParaRPr>
          </a:p>
          <a:p>
            <a:pPr marL="457200" marR="0" lvl="0" indent="-228600" algn="l" rtl="0">
              <a:lnSpc>
                <a:spcPct val="100000"/>
              </a:lnSpc>
              <a:spcBef>
                <a:spcPts val="0"/>
              </a:spcBef>
              <a:spcAft>
                <a:spcPts val="0"/>
              </a:spcAft>
              <a:buClr>
                <a:srgbClr val="000000"/>
              </a:buClr>
              <a:buSzPts val="1460"/>
              <a:buFont typeface="Lato"/>
              <a:buNone/>
            </a:pPr>
            <a:endParaRPr sz="1460" b="0" i="0" u="none" strike="noStrike" cap="none" dirty="0">
              <a:solidFill>
                <a:srgbClr val="000000"/>
              </a:solidFill>
              <a:latin typeface="Lato"/>
              <a:ea typeface="Lato"/>
              <a:cs typeface="Lato"/>
              <a:sym typeface="Lato"/>
            </a:endParaRPr>
          </a:p>
          <a:p>
            <a:pPr marL="457200" marR="0" lvl="0" indent="-228600" algn="l" rtl="0">
              <a:lnSpc>
                <a:spcPct val="100000"/>
              </a:lnSpc>
              <a:spcBef>
                <a:spcPts val="0"/>
              </a:spcBef>
              <a:spcAft>
                <a:spcPts val="0"/>
              </a:spcAft>
              <a:buClr>
                <a:srgbClr val="000000"/>
              </a:buClr>
              <a:buSzPts val="1460"/>
              <a:buFont typeface="Lato"/>
              <a:buNone/>
            </a:pPr>
            <a:endParaRPr sz="1460" b="0" i="0" u="none" strike="noStrike" cap="none" dirty="0">
              <a:solidFill>
                <a:srgbClr val="000000"/>
              </a:solidFill>
              <a:latin typeface="Lato"/>
              <a:ea typeface="Lato"/>
              <a:cs typeface="Lato"/>
              <a:sym typeface="Lato"/>
            </a:endParaRPr>
          </a:p>
          <a:p>
            <a:pPr marL="457200" marR="0" lvl="0" indent="-228600" algn="l" rtl="0">
              <a:lnSpc>
                <a:spcPct val="100000"/>
              </a:lnSpc>
              <a:spcBef>
                <a:spcPts val="0"/>
              </a:spcBef>
              <a:spcAft>
                <a:spcPts val="0"/>
              </a:spcAft>
              <a:buClr>
                <a:srgbClr val="000000"/>
              </a:buClr>
              <a:buSzPts val="1460"/>
              <a:buFont typeface="Lato"/>
              <a:buNone/>
            </a:pPr>
            <a:endParaRPr sz="1460" b="0" i="0" u="none" strike="noStrike" cap="none" dirty="0">
              <a:solidFill>
                <a:srgbClr val="000000"/>
              </a:solidFill>
              <a:latin typeface="Lato"/>
              <a:ea typeface="Lato"/>
              <a:cs typeface="Lato"/>
              <a:sym typeface="Lato"/>
            </a:endParaRPr>
          </a:p>
        </p:txBody>
      </p:sp>
      <p:sp>
        <p:nvSpPr>
          <p:cNvPr id="96" name="Google Shape;96;p3"/>
          <p:cNvSpPr txBox="1"/>
          <p:nvPr/>
        </p:nvSpPr>
        <p:spPr>
          <a:xfrm>
            <a:off x="865191" y="1067008"/>
            <a:ext cx="7718145" cy="3142567"/>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304"/>
              <a:buFont typeface="Arial"/>
              <a:buNone/>
            </a:pPr>
            <a:r>
              <a:rPr lang="en-GB" sz="2304" b="1" i="0" u="sng" strike="noStrike" cap="none" dirty="0">
                <a:solidFill>
                  <a:srgbClr val="20124D"/>
                </a:solidFill>
                <a:latin typeface="Montserrat"/>
                <a:ea typeface="Montserrat"/>
                <a:cs typeface="Montserrat"/>
                <a:sym typeface="Montserrat"/>
              </a:rPr>
              <a:t>Goals to be Established:</a:t>
            </a:r>
            <a:endParaRPr sz="1400" b="0" i="0" u="none" strike="noStrike" cap="none" dirty="0">
              <a:solidFill>
                <a:srgbClr val="000000"/>
              </a:solidFill>
              <a:latin typeface="Arial"/>
              <a:ea typeface="Arial"/>
              <a:cs typeface="Arial"/>
              <a:sym typeface="Arial"/>
            </a:endParaRP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595959"/>
              </a:solidFill>
              <a:latin typeface="Lato"/>
              <a:ea typeface="Lato"/>
              <a:cs typeface="Lato"/>
              <a:sym typeface="Lato"/>
            </a:endParaRP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666666"/>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60"/>
              <a:buFont typeface="Arial"/>
              <a:buNone/>
            </a:pPr>
            <a:endParaRPr sz="1460" b="0" i="0" u="none" strike="noStrike" cap="none" dirty="0">
              <a:solidFill>
                <a:srgbClr val="000000"/>
              </a:solidFill>
              <a:latin typeface="Lato"/>
              <a:ea typeface="Lato"/>
              <a:cs typeface="Lato"/>
              <a:sym typeface="Lato"/>
            </a:endParaRPr>
          </a:p>
          <a:p>
            <a:pPr marL="457200" marR="0" lvl="0" indent="-228600" algn="l" rtl="0">
              <a:lnSpc>
                <a:spcPct val="100000"/>
              </a:lnSpc>
              <a:spcBef>
                <a:spcPts val="0"/>
              </a:spcBef>
              <a:spcAft>
                <a:spcPts val="0"/>
              </a:spcAft>
              <a:buClr>
                <a:srgbClr val="000000"/>
              </a:buClr>
              <a:buSzPts val="1460"/>
              <a:buFont typeface="Lato"/>
              <a:buNone/>
            </a:pPr>
            <a:endParaRPr sz="1460" b="0" i="0" u="none" strike="noStrike" cap="none" dirty="0">
              <a:solidFill>
                <a:srgbClr val="000000"/>
              </a:solidFill>
              <a:latin typeface="Lato"/>
              <a:ea typeface="Lato"/>
              <a:cs typeface="Lato"/>
              <a:sym typeface="Lato"/>
            </a:endParaRPr>
          </a:p>
          <a:p>
            <a:pPr marL="457200" marR="0" lvl="0" indent="-228600" algn="l" rtl="0">
              <a:lnSpc>
                <a:spcPct val="100000"/>
              </a:lnSpc>
              <a:spcBef>
                <a:spcPts val="0"/>
              </a:spcBef>
              <a:spcAft>
                <a:spcPts val="0"/>
              </a:spcAft>
              <a:buClr>
                <a:srgbClr val="000000"/>
              </a:buClr>
              <a:buSzPts val="1460"/>
              <a:buFont typeface="Lato"/>
              <a:buNone/>
            </a:pPr>
            <a:endParaRPr sz="1460" b="0" i="0" u="none" strike="noStrike" cap="none" dirty="0">
              <a:solidFill>
                <a:srgbClr val="000000"/>
              </a:solidFill>
              <a:latin typeface="Lato"/>
              <a:ea typeface="Lato"/>
              <a:cs typeface="Lato"/>
              <a:sym typeface="Lato"/>
            </a:endParaRPr>
          </a:p>
          <a:p>
            <a:pPr marL="457200" marR="0" lvl="0" indent="-228600" algn="l" rtl="0">
              <a:lnSpc>
                <a:spcPct val="100000"/>
              </a:lnSpc>
              <a:spcBef>
                <a:spcPts val="0"/>
              </a:spcBef>
              <a:spcAft>
                <a:spcPts val="0"/>
              </a:spcAft>
              <a:buClr>
                <a:srgbClr val="000000"/>
              </a:buClr>
              <a:buSzPts val="1460"/>
              <a:buFont typeface="Lato"/>
              <a:buNone/>
            </a:pPr>
            <a:endParaRPr sz="1460" b="0" i="0" u="none" strike="noStrike" cap="none" dirty="0">
              <a:solidFill>
                <a:srgbClr val="000000"/>
              </a:solidFill>
              <a:latin typeface="Lato"/>
              <a:ea typeface="Lato"/>
              <a:cs typeface="Lato"/>
              <a:sym typeface="Lato"/>
            </a:endParaRPr>
          </a:p>
          <a:p>
            <a:pPr marL="457200" marR="0" lvl="0" indent="-228600" algn="l" rtl="0">
              <a:lnSpc>
                <a:spcPct val="100000"/>
              </a:lnSpc>
              <a:spcBef>
                <a:spcPts val="0"/>
              </a:spcBef>
              <a:spcAft>
                <a:spcPts val="0"/>
              </a:spcAft>
              <a:buClr>
                <a:srgbClr val="000000"/>
              </a:buClr>
              <a:buSzPts val="1460"/>
              <a:buFont typeface="Lato"/>
              <a:buNone/>
            </a:pPr>
            <a:endParaRPr sz="1460" b="0" i="0" u="none" strike="noStrike" cap="none" dirty="0">
              <a:solidFill>
                <a:srgbClr val="000000"/>
              </a:solidFill>
              <a:latin typeface="Lato"/>
              <a:ea typeface="Lato"/>
              <a:cs typeface="Lato"/>
              <a:sym typeface="Lato"/>
            </a:endParaRPr>
          </a:p>
        </p:txBody>
      </p:sp>
      <p:sp>
        <p:nvSpPr>
          <p:cNvPr id="2" name="Rectangle 1"/>
          <p:cNvSpPr>
            <a:spLocks noChangeArrowheads="1"/>
          </p:cNvSpPr>
          <p:nvPr/>
        </p:nvSpPr>
        <p:spPr bwMode="auto">
          <a:xfrm>
            <a:off x="865191" y="1564127"/>
            <a:ext cx="8126429" cy="297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700" b="0" i="0" u="none" strike="noStrike" cap="none" normalizeH="0" baseline="0" dirty="0" smtClean="0">
                <a:ln>
                  <a:noFill/>
                </a:ln>
                <a:solidFill>
                  <a:schemeClr val="tx1"/>
                </a:solidFill>
                <a:effectLst/>
                <a:latin typeface="Arial" panose="020B0604020202020204" pitchFamily="34" charset="0"/>
              </a:rPr>
              <a:t>Provide timely intervention to minimize risks and potential injuries during seizures.</a:t>
            </a:r>
          </a:p>
          <a:p>
            <a:pPr lvl="0" eaLnBrk="0" fontAlgn="base" hangingPunct="0">
              <a:spcBef>
                <a:spcPct val="0"/>
              </a:spcBef>
              <a:spcAft>
                <a:spcPct val="0"/>
              </a:spcAft>
              <a:buClrTx/>
              <a:buFontTx/>
              <a:buChar char="•"/>
            </a:pPr>
            <a:r>
              <a:rPr lang="en-US" sz="1700" dirty="0"/>
              <a:t>Detect seizures in real-time and notify caregivers or emergency contacts immediately</a:t>
            </a:r>
            <a:r>
              <a:rPr lang="en-US" sz="1700" dirty="0" smtClean="0"/>
              <a:t>.</a:t>
            </a:r>
          </a:p>
          <a:p>
            <a:pPr eaLnBrk="0" fontAlgn="base" hangingPunct="0">
              <a:spcBef>
                <a:spcPct val="0"/>
              </a:spcBef>
              <a:spcAft>
                <a:spcPct val="0"/>
              </a:spcAft>
              <a:buClrTx/>
              <a:buFontTx/>
              <a:buChar char="•"/>
            </a:pPr>
            <a:r>
              <a:rPr kumimoji="0" lang="en-US" sz="1700" b="0" i="0" u="none" strike="noStrike" cap="none" normalizeH="0" baseline="0" dirty="0" smtClean="0">
                <a:ln>
                  <a:noFill/>
                </a:ln>
                <a:solidFill>
                  <a:schemeClr val="tx1"/>
                </a:solidFill>
                <a:effectLst/>
                <a:latin typeface="Arial" panose="020B0604020202020204" pitchFamily="34" charset="0"/>
              </a:rPr>
              <a:t> </a:t>
            </a:r>
            <a:r>
              <a:rPr lang="en-US" sz="1700" dirty="0">
                <a:solidFill>
                  <a:schemeClr val="tx1"/>
                </a:solidFill>
                <a:latin typeface="Arial" panose="020B0604020202020204" pitchFamily="34" charset="0"/>
              </a:rPr>
              <a:t>Allow users to maintain independence and engage in daily activities with confidence. </a:t>
            </a:r>
            <a:endParaRPr lang="en-US" sz="1700" dirty="0" smtClean="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sz="1700" dirty="0">
                <a:solidFill>
                  <a:schemeClr val="tx1"/>
                </a:solidFill>
                <a:latin typeface="Arial" panose="020B0604020202020204" pitchFamily="34" charset="0"/>
              </a:rPr>
              <a:t>Offer a sense of security and peace of mind to individuals with epilepsy and their families</a:t>
            </a:r>
            <a:r>
              <a:rPr lang="en-US" sz="1700" dirty="0" smtClean="0">
                <a:solidFill>
                  <a:schemeClr val="tx1"/>
                </a:solidFill>
                <a:latin typeface="Arial" panose="020B0604020202020204" pitchFamily="34" charset="0"/>
              </a:rPr>
              <a:t>.</a:t>
            </a:r>
          </a:p>
          <a:p>
            <a:pPr lvl="0" eaLnBrk="0" fontAlgn="base" hangingPunct="0">
              <a:spcBef>
                <a:spcPct val="0"/>
              </a:spcBef>
              <a:spcAft>
                <a:spcPct val="0"/>
              </a:spcAft>
              <a:buClrTx/>
              <a:buFontTx/>
              <a:buChar char="•"/>
            </a:pPr>
            <a:r>
              <a:rPr lang="en-IN" sz="1700" dirty="0"/>
              <a:t>Minimize false alarms and ensure consistent </a:t>
            </a:r>
            <a:r>
              <a:rPr lang="en-IN" sz="1700" dirty="0" smtClean="0"/>
              <a:t>performance.</a:t>
            </a:r>
          </a:p>
          <a:p>
            <a:pPr lvl="0" eaLnBrk="0" fontAlgn="base" hangingPunct="0">
              <a:spcBef>
                <a:spcPct val="0"/>
              </a:spcBef>
              <a:spcAft>
                <a:spcPct val="0"/>
              </a:spcAft>
              <a:buClrTx/>
              <a:buFontTx/>
              <a:buChar char="•"/>
            </a:pPr>
            <a:r>
              <a:rPr lang="en-US" sz="1700" dirty="0"/>
              <a:t>Allow sharing of health data with medical professionals for better management and monitoring</a:t>
            </a:r>
            <a:r>
              <a:rPr lang="en-US" sz="1700" dirty="0" smtClean="0"/>
              <a:t>.</a:t>
            </a:r>
          </a:p>
          <a:p>
            <a:pPr eaLnBrk="0" fontAlgn="base" hangingPunct="0">
              <a:spcBef>
                <a:spcPct val="0"/>
              </a:spcBef>
              <a:spcAft>
                <a:spcPct val="0"/>
              </a:spcAft>
              <a:buClrTx/>
              <a:buFontTx/>
              <a:buChar char="•"/>
            </a:pPr>
            <a:r>
              <a:rPr lang="en-US" sz="1700" dirty="0">
                <a:solidFill>
                  <a:schemeClr val="tx1"/>
                </a:solidFill>
                <a:latin typeface="Arial" panose="020B0604020202020204" pitchFamily="34" charset="0"/>
              </a:rPr>
              <a:t>Ensure the watch is comfortable, lightweight, and discreet for everyday wear</a:t>
            </a:r>
            <a:r>
              <a:rPr lang="en-US" sz="1700" dirty="0" smtClean="0">
                <a:solidFill>
                  <a:schemeClr val="tx1"/>
                </a:solidFill>
                <a:latin typeface="Arial" panose="020B0604020202020204" pitchFamily="34" charset="0"/>
              </a:rPr>
              <a:t>.</a:t>
            </a:r>
            <a:endParaRPr kumimoji="0" lang="en-US" sz="17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
        <p:cNvGrpSpPr/>
        <p:nvPr/>
      </p:nvGrpSpPr>
      <p:grpSpPr>
        <a:xfrm>
          <a:off x="0" y="0"/>
          <a:ext cx="0" cy="0"/>
          <a:chOff x="0" y="0"/>
          <a:chExt cx="0" cy="0"/>
        </a:xfrm>
      </p:grpSpPr>
      <p:sp>
        <p:nvSpPr>
          <p:cNvPr id="101" name="Google Shape;101;p4"/>
          <p:cNvSpPr txBox="1">
            <a:spLocks noGrp="1"/>
          </p:cNvSpPr>
          <p:nvPr>
            <p:ph type="subTitle" idx="1"/>
          </p:nvPr>
        </p:nvSpPr>
        <p:spPr>
          <a:xfrm>
            <a:off x="369825" y="4779575"/>
            <a:ext cx="3154500" cy="462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40"/>
              <a:buNone/>
            </a:pPr>
            <a:r>
              <a:rPr lang="en-GB" sz="1120" b="1" dirty="0">
                <a:solidFill>
                  <a:srgbClr val="000000"/>
                </a:solidFill>
                <a:latin typeface="Montserrat"/>
                <a:ea typeface="Montserrat"/>
                <a:cs typeface="Montserrat"/>
                <a:sym typeface="Montserrat"/>
              </a:rPr>
              <a:t>JH-SIC </a:t>
            </a:r>
            <a:r>
              <a:rPr lang="en-GB" sz="1120" b="1" dirty="0" smtClean="0">
                <a:solidFill>
                  <a:srgbClr val="000000"/>
                </a:solidFill>
                <a:latin typeface="Montserrat"/>
                <a:ea typeface="Montserrat"/>
                <a:cs typeface="Montserrat"/>
                <a:sym typeface="Montserrat"/>
              </a:rPr>
              <a:t>2024 </a:t>
            </a:r>
            <a:r>
              <a:rPr lang="en-GB" sz="1120" b="1" dirty="0">
                <a:solidFill>
                  <a:srgbClr val="000000"/>
                </a:solidFill>
                <a:latin typeface="Montserrat"/>
                <a:ea typeface="Montserrat"/>
                <a:cs typeface="Montserrat"/>
                <a:sym typeface="Montserrat"/>
              </a:rPr>
              <a:t>NVCTI, IIT (ISM) DHANBAD</a:t>
            </a:r>
            <a:endParaRPr sz="1120" b="1" dirty="0">
              <a:solidFill>
                <a:srgbClr val="000000"/>
              </a:solidFill>
              <a:latin typeface="Montserrat"/>
              <a:ea typeface="Montserrat"/>
              <a:cs typeface="Montserrat"/>
              <a:sym typeface="Montserrat"/>
            </a:endParaRPr>
          </a:p>
        </p:txBody>
      </p:sp>
      <p:pic>
        <p:nvPicPr>
          <p:cNvPr id="102" name="Google Shape;102;p4"/>
          <p:cNvPicPr preferRelativeResize="0"/>
          <p:nvPr/>
        </p:nvPicPr>
        <p:blipFill rotWithShape="1">
          <a:blip r:embed="rId3">
            <a:alphaModFix/>
          </a:blip>
          <a:srcRect/>
          <a:stretch/>
        </p:blipFill>
        <p:spPr>
          <a:xfrm>
            <a:off x="7521150" y="121300"/>
            <a:ext cx="630800" cy="630800"/>
          </a:xfrm>
          <a:prstGeom prst="rect">
            <a:avLst/>
          </a:prstGeom>
          <a:noFill/>
          <a:ln>
            <a:noFill/>
          </a:ln>
        </p:spPr>
      </p:pic>
      <p:pic>
        <p:nvPicPr>
          <p:cNvPr id="103" name="Google Shape;103;p4"/>
          <p:cNvPicPr preferRelativeResize="0"/>
          <p:nvPr/>
        </p:nvPicPr>
        <p:blipFill rotWithShape="1">
          <a:blip r:embed="rId4">
            <a:alphaModFix/>
          </a:blip>
          <a:srcRect/>
          <a:stretch/>
        </p:blipFill>
        <p:spPr>
          <a:xfrm>
            <a:off x="8201500" y="111687"/>
            <a:ext cx="630801" cy="650032"/>
          </a:xfrm>
          <a:prstGeom prst="rect">
            <a:avLst/>
          </a:prstGeom>
          <a:noFill/>
          <a:ln>
            <a:noFill/>
          </a:ln>
        </p:spPr>
      </p:pic>
      <p:cxnSp>
        <p:nvCxnSpPr>
          <p:cNvPr id="104" name="Google Shape;104;p4"/>
          <p:cNvCxnSpPr/>
          <p:nvPr/>
        </p:nvCxnSpPr>
        <p:spPr>
          <a:xfrm>
            <a:off x="424575" y="3651575"/>
            <a:ext cx="0" cy="1116000"/>
          </a:xfrm>
          <a:prstGeom prst="straightConnector1">
            <a:avLst/>
          </a:prstGeom>
          <a:noFill/>
          <a:ln w="28575" cap="flat" cmpd="sng">
            <a:solidFill>
              <a:srgbClr val="5B0F00"/>
            </a:solidFill>
            <a:prstDash val="solid"/>
            <a:round/>
            <a:headEnd type="none" w="sm" len="sm"/>
            <a:tailEnd type="none" w="sm" len="sm"/>
          </a:ln>
        </p:spPr>
      </p:cxnSp>
      <p:cxnSp>
        <p:nvCxnSpPr>
          <p:cNvPr id="105" name="Google Shape;105;p4"/>
          <p:cNvCxnSpPr/>
          <p:nvPr/>
        </p:nvCxnSpPr>
        <p:spPr>
          <a:xfrm rot="10800000" flipH="1">
            <a:off x="424575" y="4767575"/>
            <a:ext cx="3045000" cy="12000"/>
          </a:xfrm>
          <a:prstGeom prst="straightConnector1">
            <a:avLst/>
          </a:prstGeom>
          <a:noFill/>
          <a:ln w="28575" cap="flat" cmpd="sng">
            <a:solidFill>
              <a:srgbClr val="5B0F00"/>
            </a:solidFill>
            <a:prstDash val="solid"/>
            <a:round/>
            <a:headEnd type="none" w="sm" len="sm"/>
            <a:tailEnd type="none" w="sm" len="sm"/>
          </a:ln>
        </p:spPr>
      </p:cxnSp>
      <p:sp>
        <p:nvSpPr>
          <p:cNvPr id="106" name="Google Shape;106;p4"/>
          <p:cNvSpPr/>
          <p:nvPr/>
        </p:nvSpPr>
        <p:spPr>
          <a:xfrm>
            <a:off x="336675" y="4682825"/>
            <a:ext cx="175800" cy="181500"/>
          </a:xfrm>
          <a:prstGeom prst="ellipse">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4"/>
          <p:cNvSpPr/>
          <p:nvPr/>
        </p:nvSpPr>
        <p:spPr>
          <a:xfrm>
            <a:off x="0" y="0"/>
            <a:ext cx="13344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4"/>
          <p:cNvSpPr/>
          <p:nvPr/>
        </p:nvSpPr>
        <p:spPr>
          <a:xfrm rot="10800000">
            <a:off x="7703050" y="3214675"/>
            <a:ext cx="14436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latin typeface="Arial"/>
                <a:ea typeface="Arial"/>
                <a:cs typeface="Arial"/>
                <a:sym typeface="Arial"/>
              </a:rPr>
              <a:t>4</a:t>
            </a:fld>
            <a:endParaRPr>
              <a:latin typeface="Arial"/>
              <a:ea typeface="Arial"/>
              <a:cs typeface="Arial"/>
              <a:sym typeface="Arial"/>
            </a:endParaRPr>
          </a:p>
        </p:txBody>
      </p:sp>
      <p:sp>
        <p:nvSpPr>
          <p:cNvPr id="110" name="Google Shape;110;p4"/>
          <p:cNvSpPr txBox="1"/>
          <p:nvPr/>
        </p:nvSpPr>
        <p:spPr>
          <a:xfrm>
            <a:off x="1288584" y="124359"/>
            <a:ext cx="6183016" cy="650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r>
              <a:rPr lang="en-GB" sz="3100" b="1" i="0" u="sng" strike="noStrike" cap="none">
                <a:solidFill>
                  <a:srgbClr val="20124D"/>
                </a:solidFill>
                <a:latin typeface="Montserrat"/>
                <a:ea typeface="Montserrat"/>
                <a:cs typeface="Montserrat"/>
                <a:sym typeface="Montserrat"/>
              </a:rPr>
              <a:t>Methodology/Scope of work</a:t>
            </a:r>
            <a:endParaRPr sz="3100" b="1" i="0" u="sng" strike="noStrike" cap="none">
              <a:solidFill>
                <a:srgbClr val="20124D"/>
              </a:solidFill>
              <a:latin typeface="Montserrat"/>
              <a:ea typeface="Montserrat"/>
              <a:cs typeface="Montserrat"/>
              <a:sym typeface="Montserrat"/>
            </a:endParaRPr>
          </a:p>
        </p:txBody>
      </p:sp>
      <p:sp>
        <p:nvSpPr>
          <p:cNvPr id="111" name="Google Shape;111;p4"/>
          <p:cNvSpPr txBox="1"/>
          <p:nvPr/>
        </p:nvSpPr>
        <p:spPr>
          <a:xfrm>
            <a:off x="733097" y="742900"/>
            <a:ext cx="7871578" cy="3864900"/>
          </a:xfrm>
          <a:prstGeom prst="rect">
            <a:avLst/>
          </a:prstGeom>
          <a:noFill/>
          <a:ln>
            <a:noFill/>
          </a:ln>
        </p:spPr>
        <p:txBody>
          <a:bodyPr spcFirstLastPara="1" wrap="square" lIns="91425" tIns="91425" rIns="91425" bIns="91425" anchor="t" anchorCtr="0">
            <a:normAutofit fontScale="92500"/>
          </a:bodyPr>
          <a:lstStyle/>
          <a:p>
            <a:pPr marL="285750" lvl="0" indent="-285750">
              <a:lnSpc>
                <a:spcPct val="115000"/>
              </a:lnSpc>
              <a:spcAft>
                <a:spcPts val="1200"/>
              </a:spcAft>
              <a:buSzPts val="1400"/>
              <a:buFont typeface="Arial"/>
              <a:buChar char="•"/>
            </a:pPr>
            <a:r>
              <a:rPr lang="en-IN" dirty="0" smtClean="0">
                <a:solidFill>
                  <a:srgbClr val="595959"/>
                </a:solidFill>
                <a:latin typeface="Lato"/>
                <a:ea typeface="Lato"/>
                <a:cs typeface="Lato"/>
                <a:sym typeface="Lato"/>
              </a:rPr>
              <a:t>Using advanced sensors like </a:t>
            </a:r>
            <a:r>
              <a:rPr lang="en-IN" dirty="0">
                <a:solidFill>
                  <a:srgbClr val="595959"/>
                </a:solidFill>
                <a:latin typeface="Lato"/>
                <a:ea typeface="Lato"/>
                <a:cs typeface="Lato"/>
                <a:sym typeface="Lato"/>
              </a:rPr>
              <a:t>accelerometers, gyroscopes, and heart rate monitors to detect abnormal movements and physiological changes. </a:t>
            </a:r>
            <a:endParaRPr lang="en-IN" dirty="0" smtClean="0">
              <a:solidFill>
                <a:srgbClr val="595959"/>
              </a:solidFill>
              <a:latin typeface="Lato"/>
              <a:ea typeface="Lato"/>
              <a:cs typeface="Lato"/>
              <a:sym typeface="Lato"/>
            </a:endParaRPr>
          </a:p>
          <a:p>
            <a:pPr marL="285750" lvl="0" indent="-285750">
              <a:lnSpc>
                <a:spcPct val="115000"/>
              </a:lnSpc>
              <a:spcAft>
                <a:spcPts val="1200"/>
              </a:spcAft>
              <a:buSzPts val="1400"/>
              <a:buFont typeface="Arial"/>
              <a:buChar char="•"/>
            </a:pPr>
            <a:r>
              <a:rPr lang="en-IN" dirty="0" smtClean="0">
                <a:solidFill>
                  <a:srgbClr val="595959"/>
                </a:solidFill>
                <a:latin typeface="Lato"/>
                <a:ea typeface="Lato"/>
                <a:cs typeface="Lato"/>
                <a:sym typeface="Lato"/>
              </a:rPr>
              <a:t>Using machine learning  </a:t>
            </a:r>
            <a:r>
              <a:rPr lang="en-IN" dirty="0">
                <a:solidFill>
                  <a:srgbClr val="595959"/>
                </a:solidFill>
                <a:latin typeface="Lato"/>
                <a:ea typeface="Lato"/>
                <a:cs typeface="Lato"/>
                <a:sym typeface="Lato"/>
              </a:rPr>
              <a:t>algorithms to distinguish between seizure activity and normal movements</a:t>
            </a:r>
            <a:r>
              <a:rPr lang="en-IN" dirty="0" smtClean="0">
                <a:solidFill>
                  <a:srgbClr val="595959"/>
                </a:solidFill>
                <a:latin typeface="Lato"/>
                <a:ea typeface="Lato"/>
                <a:cs typeface="Lato"/>
                <a:sym typeface="Lato"/>
              </a:rPr>
              <a:t>.</a:t>
            </a:r>
          </a:p>
          <a:p>
            <a:pPr marL="285750" indent="-285750">
              <a:lnSpc>
                <a:spcPct val="115000"/>
              </a:lnSpc>
              <a:spcAft>
                <a:spcPts val="1200"/>
              </a:spcAft>
              <a:buSzPts val="1400"/>
              <a:buFont typeface="Arial"/>
              <a:buChar char="•"/>
            </a:pPr>
            <a:r>
              <a:rPr lang="en-US" dirty="0" smtClean="0">
                <a:solidFill>
                  <a:srgbClr val="595959"/>
                </a:solidFill>
                <a:latin typeface="Lato"/>
                <a:ea typeface="Lato"/>
                <a:cs typeface="Lato"/>
                <a:sym typeface="Lato"/>
              </a:rPr>
              <a:t>Integrating  </a:t>
            </a:r>
            <a:r>
              <a:rPr lang="en-US" dirty="0">
                <a:solidFill>
                  <a:srgbClr val="595959"/>
                </a:solidFill>
                <a:latin typeface="Lato"/>
                <a:ea typeface="Lato"/>
                <a:cs typeface="Lato"/>
                <a:sym typeface="Lato"/>
              </a:rPr>
              <a:t>with emergency services to call for help if a severe seizure is </a:t>
            </a:r>
            <a:r>
              <a:rPr lang="en-US" dirty="0" smtClean="0">
                <a:solidFill>
                  <a:srgbClr val="595959"/>
                </a:solidFill>
                <a:latin typeface="Lato"/>
                <a:ea typeface="Lato"/>
                <a:cs typeface="Lato"/>
                <a:sym typeface="Lato"/>
              </a:rPr>
              <a:t>detected by using </a:t>
            </a:r>
            <a:r>
              <a:rPr lang="en-IN" dirty="0">
                <a:latin typeface="Lato" panose="020B0604020202020204" charset="0"/>
              </a:rPr>
              <a:t>SIM900 GSM/GPRS </a:t>
            </a:r>
            <a:r>
              <a:rPr lang="en-IN" dirty="0" smtClean="0">
                <a:latin typeface="Lato" panose="020B0604020202020204" charset="0"/>
              </a:rPr>
              <a:t>Module</a:t>
            </a:r>
          </a:p>
          <a:p>
            <a:pPr marL="285750" indent="-285750">
              <a:lnSpc>
                <a:spcPct val="115000"/>
              </a:lnSpc>
              <a:spcAft>
                <a:spcPts val="1200"/>
              </a:spcAft>
              <a:buSzPts val="1400"/>
              <a:buFont typeface="Arial"/>
              <a:buChar char="•"/>
            </a:pPr>
            <a:r>
              <a:rPr lang="en-US" dirty="0">
                <a:latin typeface="Lato" panose="020B0604020202020204" charset="0"/>
              </a:rPr>
              <a:t>Sends alerts to caregivers, family members, or emergency contacts via SMS, phone call, or app notification.</a:t>
            </a:r>
            <a:endParaRPr lang="en-IN" dirty="0">
              <a:latin typeface="Lato" panose="020B0604020202020204" charset="0"/>
            </a:endParaRPr>
          </a:p>
          <a:p>
            <a:pPr marL="285750" lvl="0" indent="-285750">
              <a:lnSpc>
                <a:spcPct val="115000"/>
              </a:lnSpc>
              <a:spcAft>
                <a:spcPts val="1200"/>
              </a:spcAft>
              <a:buSzPts val="1400"/>
              <a:buFont typeface="Arial"/>
              <a:buChar char="•"/>
            </a:pPr>
            <a:r>
              <a:rPr lang="en-US" dirty="0">
                <a:latin typeface="Lato" panose="020B0604020202020204" charset="0"/>
              </a:rPr>
              <a:t>Smartphone </a:t>
            </a:r>
            <a:r>
              <a:rPr lang="en-US" dirty="0" smtClean="0">
                <a:latin typeface="Lato" panose="020B0604020202020204" charset="0"/>
              </a:rPr>
              <a:t>Compatibility by  Syncing </a:t>
            </a:r>
            <a:r>
              <a:rPr lang="en-US" dirty="0">
                <a:latin typeface="Lato" panose="020B0604020202020204" charset="0"/>
              </a:rPr>
              <a:t>with </a:t>
            </a:r>
            <a:r>
              <a:rPr lang="en-US" dirty="0" err="1">
                <a:latin typeface="Lato" panose="020B0604020202020204" charset="0"/>
              </a:rPr>
              <a:t>iOS</a:t>
            </a:r>
            <a:r>
              <a:rPr lang="en-US" dirty="0">
                <a:latin typeface="Lato" panose="020B0604020202020204" charset="0"/>
              </a:rPr>
              <a:t> and Android devices for data access and alert </a:t>
            </a:r>
            <a:r>
              <a:rPr lang="en-US" dirty="0" smtClean="0">
                <a:latin typeface="Lato" panose="020B0604020202020204" charset="0"/>
              </a:rPr>
              <a:t>notifications by using HC-06 Bluetooth module</a:t>
            </a:r>
          </a:p>
          <a:p>
            <a:pPr marL="285750" lvl="0" indent="-285750">
              <a:lnSpc>
                <a:spcPct val="115000"/>
              </a:lnSpc>
              <a:spcAft>
                <a:spcPts val="1200"/>
              </a:spcAft>
              <a:buSzPts val="1400"/>
              <a:buFont typeface="Arial"/>
              <a:buChar char="•"/>
            </a:pPr>
            <a:r>
              <a:rPr lang="en-US" dirty="0" smtClean="0">
                <a:latin typeface="Lato" panose="020B0604020202020204" charset="0"/>
              </a:rPr>
              <a:t>Monitoring </a:t>
            </a:r>
            <a:r>
              <a:rPr lang="en-US" dirty="0">
                <a:latin typeface="Lato" panose="020B0604020202020204" charset="0"/>
              </a:rPr>
              <a:t>daily activity levels, sleep patterns, and overall wellness</a:t>
            </a:r>
            <a:r>
              <a:rPr lang="en-US" dirty="0" smtClean="0">
                <a:latin typeface="Lato" panose="020B0604020202020204" charset="0"/>
              </a:rPr>
              <a:t>.</a:t>
            </a:r>
          </a:p>
          <a:p>
            <a:pPr marL="285750" lvl="0" indent="-285750">
              <a:lnSpc>
                <a:spcPct val="115000"/>
              </a:lnSpc>
              <a:spcAft>
                <a:spcPts val="1200"/>
              </a:spcAft>
              <a:buSzPts val="1400"/>
              <a:buFont typeface="Arial"/>
              <a:buChar char="•"/>
            </a:pPr>
            <a:r>
              <a:rPr lang="en-US" b="1" dirty="0" smtClean="0">
                <a:latin typeface="Lato" panose="020B0604020202020204" charset="0"/>
              </a:rPr>
              <a:t>Using a </a:t>
            </a:r>
            <a:r>
              <a:rPr lang="en-US" dirty="0" smtClean="0">
                <a:latin typeface="Lato" panose="020B0604020202020204" charset="0"/>
              </a:rPr>
              <a:t>OLED </a:t>
            </a:r>
            <a:r>
              <a:rPr lang="en-US" dirty="0">
                <a:latin typeface="Lato" panose="020B0604020202020204" charset="0"/>
              </a:rPr>
              <a:t>or LCD screen for clear visibility of alerts and data.</a:t>
            </a:r>
            <a:endParaRPr sz="1400" b="0" i="0" u="none" strike="noStrike" cap="none" dirty="0">
              <a:solidFill>
                <a:srgbClr val="595959"/>
              </a:solidFill>
              <a:latin typeface="Lato" panose="020B0604020202020204" charset="0"/>
              <a:ea typeface="Lato"/>
              <a:cs typeface="Lato"/>
              <a:sym typeface="Lato"/>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
        <p:cNvGrpSpPr/>
        <p:nvPr/>
      </p:nvGrpSpPr>
      <p:grpSpPr>
        <a:xfrm>
          <a:off x="0" y="0"/>
          <a:ext cx="0" cy="0"/>
          <a:chOff x="0" y="0"/>
          <a:chExt cx="0" cy="0"/>
        </a:xfrm>
      </p:grpSpPr>
      <p:sp>
        <p:nvSpPr>
          <p:cNvPr id="116" name="Google Shape;116;p5"/>
          <p:cNvSpPr txBox="1">
            <a:spLocks noGrp="1"/>
          </p:cNvSpPr>
          <p:nvPr>
            <p:ph type="subTitle" idx="1"/>
          </p:nvPr>
        </p:nvSpPr>
        <p:spPr>
          <a:xfrm>
            <a:off x="369825" y="4779575"/>
            <a:ext cx="3154500" cy="462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40"/>
              <a:buNone/>
            </a:pPr>
            <a:r>
              <a:rPr lang="en-GB" sz="1120" b="1" dirty="0">
                <a:solidFill>
                  <a:srgbClr val="000000"/>
                </a:solidFill>
                <a:latin typeface="Montserrat"/>
                <a:ea typeface="Montserrat"/>
                <a:cs typeface="Montserrat"/>
                <a:sym typeface="Montserrat"/>
              </a:rPr>
              <a:t>JH-SIC </a:t>
            </a:r>
            <a:r>
              <a:rPr lang="en-GB" sz="1120" b="1" dirty="0" smtClean="0">
                <a:solidFill>
                  <a:srgbClr val="000000"/>
                </a:solidFill>
                <a:latin typeface="Montserrat"/>
                <a:ea typeface="Montserrat"/>
                <a:cs typeface="Montserrat"/>
                <a:sym typeface="Montserrat"/>
              </a:rPr>
              <a:t>2024 </a:t>
            </a:r>
            <a:r>
              <a:rPr lang="en-GB" sz="1120" b="1" dirty="0">
                <a:solidFill>
                  <a:srgbClr val="000000"/>
                </a:solidFill>
                <a:latin typeface="Montserrat"/>
                <a:ea typeface="Montserrat"/>
                <a:cs typeface="Montserrat"/>
                <a:sym typeface="Montserrat"/>
              </a:rPr>
              <a:t>NVCTI, IIT (ISM) DHANBAD</a:t>
            </a:r>
            <a:endParaRPr sz="1120" b="1" dirty="0">
              <a:solidFill>
                <a:srgbClr val="000000"/>
              </a:solidFill>
              <a:latin typeface="Montserrat"/>
              <a:ea typeface="Montserrat"/>
              <a:cs typeface="Montserrat"/>
              <a:sym typeface="Montserrat"/>
            </a:endParaRPr>
          </a:p>
        </p:txBody>
      </p:sp>
      <p:pic>
        <p:nvPicPr>
          <p:cNvPr id="117" name="Google Shape;117;p5"/>
          <p:cNvPicPr preferRelativeResize="0"/>
          <p:nvPr/>
        </p:nvPicPr>
        <p:blipFill rotWithShape="1">
          <a:blip r:embed="rId3">
            <a:alphaModFix/>
          </a:blip>
          <a:srcRect/>
          <a:stretch/>
        </p:blipFill>
        <p:spPr>
          <a:xfrm>
            <a:off x="7521150" y="121300"/>
            <a:ext cx="630800" cy="630800"/>
          </a:xfrm>
          <a:prstGeom prst="rect">
            <a:avLst/>
          </a:prstGeom>
          <a:noFill/>
          <a:ln>
            <a:noFill/>
          </a:ln>
        </p:spPr>
      </p:pic>
      <p:pic>
        <p:nvPicPr>
          <p:cNvPr id="118" name="Google Shape;118;p5"/>
          <p:cNvPicPr preferRelativeResize="0"/>
          <p:nvPr/>
        </p:nvPicPr>
        <p:blipFill rotWithShape="1">
          <a:blip r:embed="rId4">
            <a:alphaModFix/>
          </a:blip>
          <a:srcRect/>
          <a:stretch/>
        </p:blipFill>
        <p:spPr>
          <a:xfrm>
            <a:off x="8201500" y="111687"/>
            <a:ext cx="630801" cy="650032"/>
          </a:xfrm>
          <a:prstGeom prst="rect">
            <a:avLst/>
          </a:prstGeom>
          <a:noFill/>
          <a:ln>
            <a:noFill/>
          </a:ln>
        </p:spPr>
      </p:pic>
      <p:cxnSp>
        <p:nvCxnSpPr>
          <p:cNvPr id="119" name="Google Shape;119;p5"/>
          <p:cNvCxnSpPr/>
          <p:nvPr/>
        </p:nvCxnSpPr>
        <p:spPr>
          <a:xfrm>
            <a:off x="424575" y="3651575"/>
            <a:ext cx="0" cy="1116000"/>
          </a:xfrm>
          <a:prstGeom prst="straightConnector1">
            <a:avLst/>
          </a:prstGeom>
          <a:noFill/>
          <a:ln w="28575" cap="flat" cmpd="sng">
            <a:solidFill>
              <a:srgbClr val="5B0F00"/>
            </a:solidFill>
            <a:prstDash val="solid"/>
            <a:round/>
            <a:headEnd type="none" w="sm" len="sm"/>
            <a:tailEnd type="none" w="sm" len="sm"/>
          </a:ln>
        </p:spPr>
      </p:cxnSp>
      <p:cxnSp>
        <p:nvCxnSpPr>
          <p:cNvPr id="120" name="Google Shape;120;p5"/>
          <p:cNvCxnSpPr/>
          <p:nvPr/>
        </p:nvCxnSpPr>
        <p:spPr>
          <a:xfrm rot="10800000" flipH="1">
            <a:off x="424575" y="4767575"/>
            <a:ext cx="3045000" cy="12000"/>
          </a:xfrm>
          <a:prstGeom prst="straightConnector1">
            <a:avLst/>
          </a:prstGeom>
          <a:noFill/>
          <a:ln w="28575" cap="flat" cmpd="sng">
            <a:solidFill>
              <a:srgbClr val="5B0F00"/>
            </a:solidFill>
            <a:prstDash val="solid"/>
            <a:round/>
            <a:headEnd type="none" w="sm" len="sm"/>
            <a:tailEnd type="none" w="sm" len="sm"/>
          </a:ln>
        </p:spPr>
      </p:cxnSp>
      <p:sp>
        <p:nvSpPr>
          <p:cNvPr id="121" name="Google Shape;121;p5"/>
          <p:cNvSpPr/>
          <p:nvPr/>
        </p:nvSpPr>
        <p:spPr>
          <a:xfrm>
            <a:off x="336675" y="4682825"/>
            <a:ext cx="175800" cy="181500"/>
          </a:xfrm>
          <a:prstGeom prst="ellipse">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5"/>
          <p:cNvSpPr/>
          <p:nvPr/>
        </p:nvSpPr>
        <p:spPr>
          <a:xfrm>
            <a:off x="0" y="0"/>
            <a:ext cx="13344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5"/>
          <p:cNvSpPr/>
          <p:nvPr/>
        </p:nvSpPr>
        <p:spPr>
          <a:xfrm rot="10800000">
            <a:off x="7703050" y="3214675"/>
            <a:ext cx="14436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latin typeface="Arial"/>
                <a:ea typeface="Arial"/>
                <a:cs typeface="Arial"/>
                <a:sym typeface="Arial"/>
              </a:rPr>
              <a:t>5</a:t>
            </a:fld>
            <a:endParaRPr>
              <a:latin typeface="Arial"/>
              <a:ea typeface="Arial"/>
              <a:cs typeface="Arial"/>
              <a:sym typeface="Arial"/>
            </a:endParaRPr>
          </a:p>
        </p:txBody>
      </p:sp>
      <p:sp>
        <p:nvSpPr>
          <p:cNvPr id="125" name="Google Shape;125;p5"/>
          <p:cNvSpPr txBox="1"/>
          <p:nvPr/>
        </p:nvSpPr>
        <p:spPr>
          <a:xfrm>
            <a:off x="1297500" y="168725"/>
            <a:ext cx="7038900" cy="9141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ts val="3100"/>
              <a:buFont typeface="Arial"/>
              <a:buNone/>
            </a:pPr>
            <a:r>
              <a:rPr lang="en-GB" sz="3100" b="1" i="0" u="sng" strike="noStrike" cap="none">
                <a:solidFill>
                  <a:srgbClr val="20124D"/>
                </a:solidFill>
                <a:latin typeface="Montserrat"/>
                <a:ea typeface="Montserrat"/>
                <a:cs typeface="Montserrat"/>
                <a:sym typeface="Montserrat"/>
              </a:rPr>
              <a:t>Proof of Concept (PoC)</a:t>
            </a:r>
            <a:endParaRPr sz="3100" b="1" i="0" u="sng" strike="noStrike" cap="none">
              <a:solidFill>
                <a:srgbClr val="20124D"/>
              </a:solidFill>
              <a:latin typeface="Montserrat"/>
              <a:ea typeface="Montserrat"/>
              <a:cs typeface="Montserrat"/>
              <a:sym typeface="Montserrat"/>
            </a:endParaRPr>
          </a:p>
        </p:txBody>
      </p:sp>
      <p:sp>
        <p:nvSpPr>
          <p:cNvPr id="126" name="Google Shape;126;p5"/>
          <p:cNvSpPr txBox="1"/>
          <p:nvPr/>
        </p:nvSpPr>
        <p:spPr>
          <a:xfrm>
            <a:off x="632225" y="1037250"/>
            <a:ext cx="7840200" cy="35025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1200"/>
              </a:spcAft>
              <a:buClr>
                <a:srgbClr val="000000"/>
              </a:buClr>
              <a:buSzPts val="1700"/>
              <a:buFont typeface="Arial"/>
              <a:buNone/>
            </a:pPr>
            <a:endParaRPr sz="1700" b="1" i="0" u="none" strike="noStrike" cap="none" dirty="0">
              <a:solidFill>
                <a:srgbClr val="595959"/>
              </a:solidFill>
              <a:latin typeface="Lato"/>
              <a:ea typeface="Lato"/>
              <a:cs typeface="Lato"/>
              <a:sym typeface="Lato"/>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2517" y="984446"/>
            <a:ext cx="7557026" cy="352167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0"/>
        <p:cNvGrpSpPr/>
        <p:nvPr/>
      </p:nvGrpSpPr>
      <p:grpSpPr>
        <a:xfrm>
          <a:off x="0" y="0"/>
          <a:ext cx="0" cy="0"/>
          <a:chOff x="0" y="0"/>
          <a:chExt cx="0" cy="0"/>
        </a:xfrm>
      </p:grpSpPr>
      <p:sp>
        <p:nvSpPr>
          <p:cNvPr id="131" name="Google Shape;131;p6"/>
          <p:cNvSpPr txBox="1">
            <a:spLocks noGrp="1"/>
          </p:cNvSpPr>
          <p:nvPr>
            <p:ph type="subTitle" idx="1"/>
          </p:nvPr>
        </p:nvSpPr>
        <p:spPr>
          <a:xfrm>
            <a:off x="369825" y="4779575"/>
            <a:ext cx="3154500" cy="462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40"/>
              <a:buNone/>
            </a:pPr>
            <a:r>
              <a:rPr lang="en-GB" sz="1120" b="1" dirty="0">
                <a:solidFill>
                  <a:srgbClr val="000000"/>
                </a:solidFill>
                <a:latin typeface="Montserrat"/>
                <a:ea typeface="Montserrat"/>
                <a:cs typeface="Montserrat"/>
                <a:sym typeface="Montserrat"/>
              </a:rPr>
              <a:t>JH-SIC </a:t>
            </a:r>
            <a:r>
              <a:rPr lang="en-GB" sz="1120" b="1" dirty="0" smtClean="0">
                <a:solidFill>
                  <a:srgbClr val="000000"/>
                </a:solidFill>
                <a:latin typeface="Montserrat"/>
                <a:ea typeface="Montserrat"/>
                <a:cs typeface="Montserrat"/>
                <a:sym typeface="Montserrat"/>
              </a:rPr>
              <a:t>2024 </a:t>
            </a:r>
            <a:r>
              <a:rPr lang="en-GB" sz="1120" b="1" dirty="0">
                <a:solidFill>
                  <a:srgbClr val="000000"/>
                </a:solidFill>
                <a:latin typeface="Montserrat"/>
                <a:ea typeface="Montserrat"/>
                <a:cs typeface="Montserrat"/>
                <a:sym typeface="Montserrat"/>
              </a:rPr>
              <a:t>NVCTI, IIT (ISM) DHANBAD</a:t>
            </a:r>
            <a:endParaRPr sz="1120" b="1" dirty="0">
              <a:solidFill>
                <a:srgbClr val="000000"/>
              </a:solidFill>
              <a:latin typeface="Montserrat"/>
              <a:ea typeface="Montserrat"/>
              <a:cs typeface="Montserrat"/>
              <a:sym typeface="Montserrat"/>
            </a:endParaRPr>
          </a:p>
        </p:txBody>
      </p:sp>
      <p:pic>
        <p:nvPicPr>
          <p:cNvPr id="132" name="Google Shape;132;p6"/>
          <p:cNvPicPr preferRelativeResize="0"/>
          <p:nvPr/>
        </p:nvPicPr>
        <p:blipFill rotWithShape="1">
          <a:blip r:embed="rId3">
            <a:alphaModFix/>
          </a:blip>
          <a:srcRect/>
          <a:stretch/>
        </p:blipFill>
        <p:spPr>
          <a:xfrm>
            <a:off x="7521150" y="121300"/>
            <a:ext cx="630800" cy="630800"/>
          </a:xfrm>
          <a:prstGeom prst="rect">
            <a:avLst/>
          </a:prstGeom>
          <a:noFill/>
          <a:ln>
            <a:noFill/>
          </a:ln>
        </p:spPr>
      </p:pic>
      <p:pic>
        <p:nvPicPr>
          <p:cNvPr id="133" name="Google Shape;133;p6"/>
          <p:cNvPicPr preferRelativeResize="0"/>
          <p:nvPr/>
        </p:nvPicPr>
        <p:blipFill rotWithShape="1">
          <a:blip r:embed="rId4">
            <a:alphaModFix/>
          </a:blip>
          <a:srcRect/>
          <a:stretch/>
        </p:blipFill>
        <p:spPr>
          <a:xfrm>
            <a:off x="8201500" y="111687"/>
            <a:ext cx="630801" cy="650032"/>
          </a:xfrm>
          <a:prstGeom prst="rect">
            <a:avLst/>
          </a:prstGeom>
          <a:noFill/>
          <a:ln>
            <a:noFill/>
          </a:ln>
        </p:spPr>
      </p:pic>
      <p:cxnSp>
        <p:nvCxnSpPr>
          <p:cNvPr id="134" name="Google Shape;134;p6"/>
          <p:cNvCxnSpPr/>
          <p:nvPr/>
        </p:nvCxnSpPr>
        <p:spPr>
          <a:xfrm>
            <a:off x="424575" y="3651575"/>
            <a:ext cx="0" cy="1116000"/>
          </a:xfrm>
          <a:prstGeom prst="straightConnector1">
            <a:avLst/>
          </a:prstGeom>
          <a:noFill/>
          <a:ln w="28575" cap="flat" cmpd="sng">
            <a:solidFill>
              <a:srgbClr val="5B0F00"/>
            </a:solidFill>
            <a:prstDash val="solid"/>
            <a:round/>
            <a:headEnd type="none" w="sm" len="sm"/>
            <a:tailEnd type="none" w="sm" len="sm"/>
          </a:ln>
        </p:spPr>
      </p:cxnSp>
      <p:cxnSp>
        <p:nvCxnSpPr>
          <p:cNvPr id="135" name="Google Shape;135;p6"/>
          <p:cNvCxnSpPr/>
          <p:nvPr/>
        </p:nvCxnSpPr>
        <p:spPr>
          <a:xfrm rot="10800000" flipH="1">
            <a:off x="424575" y="4767575"/>
            <a:ext cx="3045000" cy="12000"/>
          </a:xfrm>
          <a:prstGeom prst="straightConnector1">
            <a:avLst/>
          </a:prstGeom>
          <a:noFill/>
          <a:ln w="28575" cap="flat" cmpd="sng">
            <a:solidFill>
              <a:srgbClr val="5B0F00"/>
            </a:solidFill>
            <a:prstDash val="solid"/>
            <a:round/>
            <a:headEnd type="none" w="sm" len="sm"/>
            <a:tailEnd type="none" w="sm" len="sm"/>
          </a:ln>
        </p:spPr>
      </p:cxnSp>
      <p:sp>
        <p:nvSpPr>
          <p:cNvPr id="136" name="Google Shape;136;p6"/>
          <p:cNvSpPr/>
          <p:nvPr/>
        </p:nvSpPr>
        <p:spPr>
          <a:xfrm>
            <a:off x="336675" y="4682825"/>
            <a:ext cx="175800" cy="181500"/>
          </a:xfrm>
          <a:prstGeom prst="ellipse">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6"/>
          <p:cNvSpPr/>
          <p:nvPr/>
        </p:nvSpPr>
        <p:spPr>
          <a:xfrm>
            <a:off x="0" y="0"/>
            <a:ext cx="13344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6"/>
          <p:cNvSpPr/>
          <p:nvPr/>
        </p:nvSpPr>
        <p:spPr>
          <a:xfrm rot="10800000">
            <a:off x="7703050" y="3214675"/>
            <a:ext cx="14436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latin typeface="Arial"/>
                <a:ea typeface="Arial"/>
                <a:cs typeface="Arial"/>
                <a:sym typeface="Arial"/>
              </a:rPr>
              <a:t>6</a:t>
            </a:fld>
            <a:endParaRPr>
              <a:latin typeface="Arial"/>
              <a:ea typeface="Arial"/>
              <a:cs typeface="Arial"/>
              <a:sym typeface="Arial"/>
            </a:endParaRPr>
          </a:p>
        </p:txBody>
      </p:sp>
      <p:sp>
        <p:nvSpPr>
          <p:cNvPr id="140" name="Google Shape;140;p6"/>
          <p:cNvSpPr txBox="1"/>
          <p:nvPr/>
        </p:nvSpPr>
        <p:spPr>
          <a:xfrm>
            <a:off x="1135850" y="351475"/>
            <a:ext cx="6786300" cy="5658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1900"/>
              <a:buFont typeface="Arial"/>
              <a:buNone/>
            </a:pPr>
            <a:r>
              <a:rPr lang="en-GB" sz="1900" b="1" i="0" u="sng" strike="noStrike" cap="none" dirty="0">
                <a:solidFill>
                  <a:srgbClr val="20124D"/>
                </a:solidFill>
                <a:latin typeface="Montserrat"/>
                <a:ea typeface="Montserrat"/>
                <a:cs typeface="Montserrat"/>
                <a:sym typeface="Montserrat"/>
              </a:rPr>
              <a:t>Deliverables</a:t>
            </a:r>
            <a:endParaRPr sz="1900" b="1" i="0" u="sng" strike="noStrike" cap="none" dirty="0">
              <a:solidFill>
                <a:srgbClr val="20124D"/>
              </a:solidFill>
              <a:latin typeface="Montserrat"/>
              <a:ea typeface="Montserrat"/>
              <a:cs typeface="Montserrat"/>
              <a:sym typeface="Montserrat"/>
            </a:endParaRPr>
          </a:p>
        </p:txBody>
      </p:sp>
      <p:sp>
        <p:nvSpPr>
          <p:cNvPr id="141" name="Google Shape;141;p6"/>
          <p:cNvSpPr txBox="1"/>
          <p:nvPr/>
        </p:nvSpPr>
        <p:spPr>
          <a:xfrm>
            <a:off x="1245645" y="817055"/>
            <a:ext cx="7393800" cy="1390101"/>
          </a:xfrm>
          <a:prstGeom prst="rect">
            <a:avLst/>
          </a:prstGeom>
          <a:noFill/>
          <a:ln>
            <a:noFill/>
          </a:ln>
        </p:spPr>
        <p:txBody>
          <a:bodyPr spcFirstLastPara="1" wrap="square" lIns="91425" tIns="91425" rIns="91425" bIns="91425" anchor="t" anchorCtr="0">
            <a:normAutofit fontScale="77500" lnSpcReduction="20000"/>
          </a:bodyPr>
          <a:lstStyle/>
          <a:p>
            <a:pPr marL="285750" lvl="0" indent="-285750">
              <a:buFont typeface="Arial" panose="020B0604020202020204" pitchFamily="34" charset="0"/>
              <a:buChar char="•"/>
            </a:pPr>
            <a:r>
              <a:rPr lang="en-IN" dirty="0" smtClean="0"/>
              <a:t>Rapid </a:t>
            </a:r>
            <a:r>
              <a:rPr lang="en-IN" dirty="0"/>
              <a:t>Response: By automatically alerting emergency services, it could significantly reduce the time between onset of symptoms and medical intervention, potentially saving lives and minimizing long-term damage.</a:t>
            </a:r>
          </a:p>
          <a:p>
            <a:pPr marL="285750" lvl="0" indent="-285750">
              <a:buFont typeface="Arial" panose="020B0604020202020204" pitchFamily="34" charset="0"/>
              <a:buChar char="•"/>
            </a:pPr>
            <a:r>
              <a:rPr lang="en-IN" dirty="0"/>
              <a:t>24/7 Monitoring: Unlike human observation, the device would provide constant vigilance, particularly beneficial for those living alone or at high risk.</a:t>
            </a:r>
          </a:p>
          <a:p>
            <a:pPr marL="285750" lvl="0" indent="-285750">
              <a:buFont typeface="Arial" panose="020B0604020202020204" pitchFamily="34" charset="0"/>
              <a:buChar char="•"/>
            </a:pPr>
            <a:r>
              <a:rPr lang="en-IN" dirty="0"/>
              <a:t>Accuracy: Advanced algorithms could potentially detect subtle changes in vital signs that humans might miss, leading to earlier </a:t>
            </a:r>
            <a:r>
              <a:rPr lang="en-IN" dirty="0" smtClean="0"/>
              <a:t>intervention</a:t>
            </a:r>
          </a:p>
          <a:p>
            <a:pPr marL="285750" lvl="0" indent="-285750">
              <a:buFont typeface="Arial" panose="020B0604020202020204" pitchFamily="34" charset="0"/>
              <a:buChar char="•"/>
            </a:pPr>
            <a:r>
              <a:rPr lang="en-IN" dirty="0"/>
              <a:t>Increased Independence: At-risk individuals could maintain more autonomy, knowing they have a safety net.</a:t>
            </a:r>
          </a:p>
          <a:p>
            <a:pPr marL="285750" lvl="0" indent="-285750">
              <a:buFont typeface="Arial" panose="020B0604020202020204" pitchFamily="34" charset="0"/>
              <a:buChar char="•"/>
            </a:pPr>
            <a:r>
              <a:rPr lang="en-IN" dirty="0"/>
              <a:t>Reduced Burden on Caregivers: Family members and caregivers could have peace of mind, knowing their loved ones are being monitored.</a:t>
            </a:r>
          </a:p>
          <a:p>
            <a:pPr marL="285750" lvl="0" indent="-285750">
              <a:buFont typeface="Arial" panose="020B0604020202020204" pitchFamily="34" charset="0"/>
              <a:buChar char="•"/>
            </a:pPr>
            <a:endParaRPr lang="en-IN" dirty="0"/>
          </a:p>
        </p:txBody>
      </p:sp>
      <p:sp>
        <p:nvSpPr>
          <p:cNvPr id="142" name="Google Shape;142;p6"/>
          <p:cNvSpPr txBox="1"/>
          <p:nvPr/>
        </p:nvSpPr>
        <p:spPr>
          <a:xfrm>
            <a:off x="1135850" y="2086231"/>
            <a:ext cx="41508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1900" b="1" i="0" u="sng" strike="noStrike" cap="none">
                <a:solidFill>
                  <a:srgbClr val="20124D"/>
                </a:solidFill>
                <a:latin typeface="Montserrat"/>
                <a:ea typeface="Montserrat"/>
                <a:cs typeface="Montserrat"/>
                <a:sym typeface="Montserrat"/>
              </a:rPr>
              <a:t>Timeline of the project</a:t>
            </a:r>
            <a:endParaRPr sz="1900" b="1" i="0" u="sng" strike="noStrike" cap="none">
              <a:solidFill>
                <a:srgbClr val="20124D"/>
              </a:solidFill>
              <a:latin typeface="Montserrat"/>
              <a:ea typeface="Montserrat"/>
              <a:cs typeface="Montserrat"/>
              <a:sym typeface="Montserrat"/>
            </a:endParaRPr>
          </a:p>
        </p:txBody>
      </p:sp>
      <p:sp>
        <p:nvSpPr>
          <p:cNvPr id="144" name="Google Shape;144;p6"/>
          <p:cNvSpPr txBox="1"/>
          <p:nvPr/>
        </p:nvSpPr>
        <p:spPr>
          <a:xfrm>
            <a:off x="1135850" y="3187316"/>
            <a:ext cx="41508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1900" b="1" i="0" u="sng" strike="noStrike" cap="none">
                <a:solidFill>
                  <a:srgbClr val="20124D"/>
                </a:solidFill>
                <a:latin typeface="Montserrat"/>
                <a:ea typeface="Montserrat"/>
                <a:cs typeface="Montserrat"/>
                <a:sym typeface="Montserrat"/>
              </a:rPr>
              <a:t>Estimated Budget</a:t>
            </a:r>
            <a:endParaRPr sz="1900" b="1" i="0" u="sng" strike="noStrike" cap="none">
              <a:solidFill>
                <a:srgbClr val="20124D"/>
              </a:solidFill>
              <a:latin typeface="Montserrat"/>
              <a:ea typeface="Montserrat"/>
              <a:cs typeface="Montserrat"/>
              <a:sym typeface="Montserrat"/>
            </a:endParaRPr>
          </a:p>
        </p:txBody>
      </p:sp>
      <p:sp>
        <p:nvSpPr>
          <p:cNvPr id="145" name="Google Shape;145;p6"/>
          <p:cNvSpPr txBox="1"/>
          <p:nvPr/>
        </p:nvSpPr>
        <p:spPr>
          <a:xfrm>
            <a:off x="1135850" y="3669176"/>
            <a:ext cx="7393800" cy="865200"/>
          </a:xfrm>
          <a:prstGeom prst="rect">
            <a:avLst/>
          </a:prstGeom>
          <a:noFill/>
          <a:ln>
            <a:noFill/>
          </a:ln>
        </p:spPr>
        <p:txBody>
          <a:bodyPr spcFirstLastPara="1" wrap="square" lIns="91425" tIns="91425" rIns="91425" bIns="91425" anchor="t" anchorCtr="0">
            <a:normAutofit/>
          </a:bodyPr>
          <a:lstStyle/>
          <a:p>
            <a:pPr fontAlgn="t"/>
            <a:endParaRPr sz="1800" b="0" i="0" u="none" strike="noStrike" cap="none" dirty="0">
              <a:solidFill>
                <a:srgbClr val="595959"/>
              </a:solidFill>
              <a:latin typeface="Lato"/>
              <a:ea typeface="Lato"/>
              <a:cs typeface="Lato"/>
              <a:sym typeface="Lato"/>
            </a:endParaRPr>
          </a:p>
        </p:txBody>
      </p:sp>
      <p:sp>
        <p:nvSpPr>
          <p:cNvPr id="17" name="Right Arrow 16"/>
          <p:cNvSpPr/>
          <p:nvPr/>
        </p:nvSpPr>
        <p:spPr>
          <a:xfrm>
            <a:off x="1245645" y="2314545"/>
            <a:ext cx="6752843" cy="1121457"/>
          </a:xfrm>
          <a:prstGeom prst="rightArrow">
            <a:avLst/>
          </a:prstGeom>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2" name="TextBox 1"/>
          <p:cNvSpPr txBox="1"/>
          <p:nvPr/>
        </p:nvSpPr>
        <p:spPr>
          <a:xfrm>
            <a:off x="1334400" y="2692233"/>
            <a:ext cx="1950667" cy="414034"/>
          </a:xfrm>
          <a:prstGeom prst="rect">
            <a:avLst/>
          </a:prstGeom>
          <a:noFill/>
        </p:spPr>
        <p:txBody>
          <a:bodyPr wrap="square" rtlCol="0">
            <a:spAutoFit/>
          </a:bodyPr>
          <a:lstStyle/>
          <a:p>
            <a:r>
              <a:rPr lang="en-US" sz="1000" dirty="0" smtClean="0"/>
              <a:t>Circuit and Assembling –(4-5 days)</a:t>
            </a:r>
            <a:endParaRPr lang="en-IN" sz="1000" dirty="0"/>
          </a:p>
        </p:txBody>
      </p:sp>
      <p:sp>
        <p:nvSpPr>
          <p:cNvPr id="3" name="TextBox 2"/>
          <p:cNvSpPr txBox="1"/>
          <p:nvPr/>
        </p:nvSpPr>
        <p:spPr>
          <a:xfrm>
            <a:off x="3194317" y="2708383"/>
            <a:ext cx="1936483" cy="246221"/>
          </a:xfrm>
          <a:prstGeom prst="rect">
            <a:avLst/>
          </a:prstGeom>
          <a:noFill/>
        </p:spPr>
        <p:txBody>
          <a:bodyPr wrap="square" rtlCol="0">
            <a:spAutoFit/>
          </a:bodyPr>
          <a:lstStyle/>
          <a:p>
            <a:r>
              <a:rPr lang="en-US" sz="1000" dirty="0" smtClean="0"/>
              <a:t>External design –( 7-10 days)</a:t>
            </a:r>
            <a:endParaRPr lang="en-IN" sz="1000" dirty="0"/>
          </a:p>
        </p:txBody>
      </p:sp>
      <p:sp>
        <p:nvSpPr>
          <p:cNvPr id="4" name="TextBox 3"/>
          <p:cNvSpPr txBox="1"/>
          <p:nvPr/>
        </p:nvSpPr>
        <p:spPr>
          <a:xfrm>
            <a:off x="5130800" y="2670619"/>
            <a:ext cx="2205069" cy="400110"/>
          </a:xfrm>
          <a:prstGeom prst="rect">
            <a:avLst/>
          </a:prstGeom>
          <a:noFill/>
        </p:spPr>
        <p:txBody>
          <a:bodyPr wrap="square" rtlCol="0">
            <a:spAutoFit/>
          </a:bodyPr>
          <a:lstStyle/>
          <a:p>
            <a:r>
              <a:rPr lang="en-US" sz="1000" dirty="0" smtClean="0"/>
              <a:t>Testing , modifying , rectification (if any) – (2-4 days)</a:t>
            </a:r>
            <a:endParaRPr lang="en-IN" sz="1000" dirty="0"/>
          </a:p>
        </p:txBody>
      </p:sp>
      <p:graphicFrame>
        <p:nvGraphicFramePr>
          <p:cNvPr id="6" name="Table 5"/>
          <p:cNvGraphicFramePr>
            <a:graphicFrameLocks noGrp="1"/>
          </p:cNvGraphicFramePr>
          <p:nvPr>
            <p:extLst>
              <p:ext uri="{D42A27DB-BD31-4B8C-83A1-F6EECF244321}">
                <p14:modId xmlns:p14="http://schemas.microsoft.com/office/powerpoint/2010/main" val="121604605"/>
              </p:ext>
            </p:extLst>
          </p:nvPr>
        </p:nvGraphicFramePr>
        <p:xfrm>
          <a:off x="1239866" y="3712801"/>
          <a:ext cx="6912084" cy="741680"/>
        </p:xfrm>
        <a:graphic>
          <a:graphicData uri="http://schemas.openxmlformats.org/drawingml/2006/table">
            <a:tbl>
              <a:tblPr firstRow="1" bandRow="1">
                <a:tableStyleId>{5C22544A-7EE6-4342-B048-85BDC9FD1C3A}</a:tableStyleId>
              </a:tblPr>
              <a:tblGrid>
                <a:gridCol w="2367493"/>
                <a:gridCol w="1637882"/>
                <a:gridCol w="2906709"/>
              </a:tblGrid>
              <a:tr h="370840">
                <a:tc>
                  <a:txBody>
                    <a:bodyPr/>
                    <a:lstStyle/>
                    <a:p>
                      <a:r>
                        <a:rPr lang="en-US" dirty="0" smtClean="0"/>
                        <a:t>CIRCUIT(COMPONENTS)</a:t>
                      </a:r>
                      <a:endParaRPr lang="en-IN" dirty="0"/>
                    </a:p>
                  </a:txBody>
                  <a:tcPr/>
                </a:tc>
                <a:tc>
                  <a:txBody>
                    <a:bodyPr/>
                    <a:lstStyle/>
                    <a:p>
                      <a:r>
                        <a:rPr lang="en-US" dirty="0" smtClean="0"/>
                        <a:t>ENCLOSURE </a:t>
                      </a:r>
                      <a:endParaRPr lang="en-IN" dirty="0"/>
                    </a:p>
                  </a:txBody>
                  <a:tcPr/>
                </a:tc>
                <a:tc>
                  <a:txBody>
                    <a:bodyPr/>
                    <a:lstStyle/>
                    <a:p>
                      <a:r>
                        <a:rPr lang="en-IN" dirty="0" smtClean="0"/>
                        <a:t>MISCELLANEOUS EXPENSES</a:t>
                      </a:r>
                      <a:endParaRPr lang="en-IN" dirty="0"/>
                    </a:p>
                  </a:txBody>
                  <a:tcPr/>
                </a:tc>
              </a:tr>
              <a:tr h="370840">
                <a:tc>
                  <a:txBody>
                    <a:bodyPr/>
                    <a:lstStyle/>
                    <a:p>
                      <a:pPr algn="ctr"/>
                      <a:r>
                        <a:rPr lang="en-US" b="1" dirty="0" smtClean="0"/>
                        <a:t>INR</a:t>
                      </a:r>
                      <a:r>
                        <a:rPr lang="en-US" b="1" baseline="0" dirty="0" smtClean="0"/>
                        <a:t> </a:t>
                      </a:r>
                      <a:r>
                        <a:rPr lang="en-US" b="1" dirty="0" smtClean="0"/>
                        <a:t>3100</a:t>
                      </a:r>
                      <a:endParaRPr lang="en-IN" b="1" dirty="0"/>
                    </a:p>
                  </a:txBody>
                  <a:tcPr/>
                </a:tc>
                <a:tc>
                  <a:txBody>
                    <a:bodyPr/>
                    <a:lstStyle/>
                    <a:p>
                      <a:pPr algn="ctr"/>
                      <a:r>
                        <a:rPr lang="en-US" b="1" dirty="0" smtClean="0"/>
                        <a:t>INR 700</a:t>
                      </a:r>
                      <a:endParaRPr lang="en-IN" b="1" dirty="0"/>
                    </a:p>
                  </a:txBody>
                  <a:tcPr/>
                </a:tc>
                <a:tc>
                  <a:txBody>
                    <a:bodyPr/>
                    <a:lstStyle/>
                    <a:p>
                      <a:pPr algn="ctr"/>
                      <a:r>
                        <a:rPr lang="en-US" b="1" dirty="0" smtClean="0"/>
                        <a:t>INR 1000</a:t>
                      </a:r>
                      <a:endParaRPr lang="en-IN" b="1" dirty="0"/>
                    </a:p>
                  </a:txBody>
                  <a:tcPr/>
                </a:tc>
              </a:tr>
            </a:tbl>
          </a:graphicData>
        </a:graphic>
      </p:graphicFrame>
      <p:sp>
        <p:nvSpPr>
          <p:cNvPr id="7" name="Rectangle 6"/>
          <p:cNvSpPr/>
          <p:nvPr/>
        </p:nvSpPr>
        <p:spPr>
          <a:xfrm>
            <a:off x="1135850" y="4498105"/>
            <a:ext cx="4168129" cy="307777"/>
          </a:xfrm>
          <a:prstGeom prst="rect">
            <a:avLst/>
          </a:prstGeom>
        </p:spPr>
        <p:txBody>
          <a:bodyPr wrap="none">
            <a:spAutoFit/>
          </a:bodyPr>
          <a:lstStyle/>
          <a:p>
            <a:r>
              <a:rPr lang="en-US" dirty="0">
                <a:latin typeface="Lato" panose="020F0502020204030203" pitchFamily="34" charset="0"/>
                <a:ea typeface="Lato" panose="020F0502020204030203" pitchFamily="34" charset="0"/>
                <a:cs typeface="Lato" panose="020F0502020204030203" pitchFamily="34" charset="0"/>
              </a:rPr>
              <a:t>The estimated budget is calculated to be </a:t>
            </a:r>
            <a:r>
              <a:rPr lang="en-US" b="1" dirty="0">
                <a:latin typeface="Lato" panose="020F0502020204030203" pitchFamily="34" charset="0"/>
                <a:ea typeface="Lato" panose="020F0502020204030203" pitchFamily="34" charset="0"/>
                <a:cs typeface="Lato" panose="020F0502020204030203" pitchFamily="34" charset="0"/>
              </a:rPr>
              <a:t>INR </a:t>
            </a:r>
            <a:r>
              <a:rPr lang="en-US" b="1" dirty="0" smtClean="0">
                <a:latin typeface="Lato" panose="020F0502020204030203" pitchFamily="34" charset="0"/>
                <a:ea typeface="Lato" panose="020F0502020204030203" pitchFamily="34" charset="0"/>
                <a:cs typeface="Lato" panose="020F0502020204030203" pitchFamily="34" charset="0"/>
              </a:rPr>
              <a:t>4,800</a:t>
            </a:r>
            <a:endParaRPr lang="en-US" b="1"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9"/>
        <p:cNvGrpSpPr/>
        <p:nvPr/>
      </p:nvGrpSpPr>
      <p:grpSpPr>
        <a:xfrm>
          <a:off x="0" y="0"/>
          <a:ext cx="0" cy="0"/>
          <a:chOff x="0" y="0"/>
          <a:chExt cx="0" cy="0"/>
        </a:xfrm>
      </p:grpSpPr>
      <p:sp>
        <p:nvSpPr>
          <p:cNvPr id="150" name="Google Shape;150;p7"/>
          <p:cNvSpPr txBox="1">
            <a:spLocks noGrp="1"/>
          </p:cNvSpPr>
          <p:nvPr>
            <p:ph type="ctrTitle"/>
          </p:nvPr>
        </p:nvSpPr>
        <p:spPr>
          <a:xfrm>
            <a:off x="311700" y="1176700"/>
            <a:ext cx="8520600" cy="1620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r>
              <a:rPr lang="en-GB" b="1">
                <a:latin typeface="Montserrat"/>
                <a:ea typeface="Montserrat"/>
                <a:cs typeface="Montserrat"/>
                <a:sym typeface="Montserrat"/>
              </a:rPr>
              <a:t>THANK YOU!</a:t>
            </a:r>
            <a:endParaRPr b="1">
              <a:latin typeface="Montserrat"/>
              <a:ea typeface="Montserrat"/>
              <a:cs typeface="Montserrat"/>
              <a:sym typeface="Montserrat"/>
            </a:endParaRPr>
          </a:p>
        </p:txBody>
      </p:sp>
      <p:sp>
        <p:nvSpPr>
          <p:cNvPr id="151" name="Google Shape;151;p7"/>
          <p:cNvSpPr txBox="1">
            <a:spLocks noGrp="1"/>
          </p:cNvSpPr>
          <p:nvPr>
            <p:ph type="subTitle" idx="1"/>
          </p:nvPr>
        </p:nvSpPr>
        <p:spPr>
          <a:xfrm>
            <a:off x="369825" y="4779575"/>
            <a:ext cx="3154500" cy="462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40"/>
              <a:buNone/>
            </a:pPr>
            <a:r>
              <a:rPr lang="en-GB" sz="1120" b="1" dirty="0">
                <a:solidFill>
                  <a:srgbClr val="000000"/>
                </a:solidFill>
                <a:latin typeface="Montserrat"/>
                <a:ea typeface="Montserrat"/>
                <a:cs typeface="Montserrat"/>
                <a:sym typeface="Montserrat"/>
              </a:rPr>
              <a:t>JH-SIC </a:t>
            </a:r>
            <a:r>
              <a:rPr lang="en-GB" sz="1120" b="1" dirty="0" smtClean="0">
                <a:solidFill>
                  <a:srgbClr val="000000"/>
                </a:solidFill>
                <a:latin typeface="Montserrat"/>
                <a:ea typeface="Montserrat"/>
                <a:cs typeface="Montserrat"/>
                <a:sym typeface="Montserrat"/>
              </a:rPr>
              <a:t>2024 </a:t>
            </a:r>
            <a:r>
              <a:rPr lang="en-GB" sz="1120" b="1" dirty="0">
                <a:solidFill>
                  <a:srgbClr val="000000"/>
                </a:solidFill>
                <a:latin typeface="Montserrat"/>
                <a:ea typeface="Montserrat"/>
                <a:cs typeface="Montserrat"/>
                <a:sym typeface="Montserrat"/>
              </a:rPr>
              <a:t>NVCTI, IIT (ISM) DHANBAD</a:t>
            </a:r>
            <a:endParaRPr sz="1120" b="1" dirty="0">
              <a:solidFill>
                <a:srgbClr val="000000"/>
              </a:solidFill>
              <a:latin typeface="Montserrat"/>
              <a:ea typeface="Montserrat"/>
              <a:cs typeface="Montserrat"/>
              <a:sym typeface="Montserrat"/>
            </a:endParaRPr>
          </a:p>
        </p:txBody>
      </p:sp>
      <p:pic>
        <p:nvPicPr>
          <p:cNvPr id="152" name="Google Shape;152;p7"/>
          <p:cNvPicPr preferRelativeResize="0"/>
          <p:nvPr/>
        </p:nvPicPr>
        <p:blipFill rotWithShape="1">
          <a:blip r:embed="rId3">
            <a:alphaModFix/>
          </a:blip>
          <a:srcRect/>
          <a:stretch/>
        </p:blipFill>
        <p:spPr>
          <a:xfrm>
            <a:off x="7521150" y="121300"/>
            <a:ext cx="630800" cy="630800"/>
          </a:xfrm>
          <a:prstGeom prst="rect">
            <a:avLst/>
          </a:prstGeom>
          <a:noFill/>
          <a:ln>
            <a:noFill/>
          </a:ln>
        </p:spPr>
      </p:pic>
      <p:pic>
        <p:nvPicPr>
          <p:cNvPr id="153" name="Google Shape;153;p7"/>
          <p:cNvPicPr preferRelativeResize="0"/>
          <p:nvPr/>
        </p:nvPicPr>
        <p:blipFill rotWithShape="1">
          <a:blip r:embed="rId4">
            <a:alphaModFix/>
          </a:blip>
          <a:srcRect/>
          <a:stretch/>
        </p:blipFill>
        <p:spPr>
          <a:xfrm>
            <a:off x="8201500" y="111687"/>
            <a:ext cx="630801" cy="650032"/>
          </a:xfrm>
          <a:prstGeom prst="rect">
            <a:avLst/>
          </a:prstGeom>
          <a:noFill/>
          <a:ln>
            <a:noFill/>
          </a:ln>
        </p:spPr>
      </p:pic>
      <p:cxnSp>
        <p:nvCxnSpPr>
          <p:cNvPr id="154" name="Google Shape;154;p7"/>
          <p:cNvCxnSpPr/>
          <p:nvPr/>
        </p:nvCxnSpPr>
        <p:spPr>
          <a:xfrm>
            <a:off x="424575" y="3651575"/>
            <a:ext cx="0" cy="1116000"/>
          </a:xfrm>
          <a:prstGeom prst="straightConnector1">
            <a:avLst/>
          </a:prstGeom>
          <a:noFill/>
          <a:ln w="28575" cap="flat" cmpd="sng">
            <a:solidFill>
              <a:srgbClr val="5B0F00"/>
            </a:solidFill>
            <a:prstDash val="solid"/>
            <a:round/>
            <a:headEnd type="none" w="sm" len="sm"/>
            <a:tailEnd type="none" w="sm" len="sm"/>
          </a:ln>
        </p:spPr>
      </p:cxnSp>
      <p:cxnSp>
        <p:nvCxnSpPr>
          <p:cNvPr id="155" name="Google Shape;155;p7"/>
          <p:cNvCxnSpPr/>
          <p:nvPr/>
        </p:nvCxnSpPr>
        <p:spPr>
          <a:xfrm rot="10800000" flipH="1">
            <a:off x="424575" y="4767575"/>
            <a:ext cx="3045000" cy="12000"/>
          </a:xfrm>
          <a:prstGeom prst="straightConnector1">
            <a:avLst/>
          </a:prstGeom>
          <a:noFill/>
          <a:ln w="28575" cap="flat" cmpd="sng">
            <a:solidFill>
              <a:srgbClr val="5B0F00"/>
            </a:solidFill>
            <a:prstDash val="solid"/>
            <a:round/>
            <a:headEnd type="none" w="sm" len="sm"/>
            <a:tailEnd type="none" w="sm" len="sm"/>
          </a:ln>
        </p:spPr>
      </p:cxnSp>
      <p:sp>
        <p:nvSpPr>
          <p:cNvPr id="156" name="Google Shape;156;p7"/>
          <p:cNvSpPr/>
          <p:nvPr/>
        </p:nvSpPr>
        <p:spPr>
          <a:xfrm>
            <a:off x="336675" y="4682825"/>
            <a:ext cx="175800" cy="181500"/>
          </a:xfrm>
          <a:prstGeom prst="ellipse">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7"/>
          <p:cNvSpPr/>
          <p:nvPr/>
        </p:nvSpPr>
        <p:spPr>
          <a:xfrm>
            <a:off x="0" y="0"/>
            <a:ext cx="13344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7"/>
          <p:cNvSpPr/>
          <p:nvPr/>
        </p:nvSpPr>
        <p:spPr>
          <a:xfrm rot="10800000">
            <a:off x="7703050" y="3214675"/>
            <a:ext cx="1443600" cy="1928700"/>
          </a:xfrm>
          <a:prstGeom prst="halfFrame">
            <a:avLst>
              <a:gd name="adj1" fmla="val 33333"/>
              <a:gd name="adj2" fmla="val 33333"/>
            </a:avLst>
          </a:prstGeom>
          <a:solidFill>
            <a:srgbClr val="5B0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latin typeface="Arial"/>
                <a:ea typeface="Arial"/>
                <a:cs typeface="Arial"/>
                <a:sym typeface="Arial"/>
              </a:rPr>
              <a:t>7</a:t>
            </a:fld>
            <a:endParaRPr>
              <a:latin typeface="Arial"/>
              <a:ea typeface="Arial"/>
              <a:cs typeface="Arial"/>
              <a:sym typeface="Aria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TotalTime>
  <Words>656</Words>
  <Application>Microsoft Office PowerPoint</Application>
  <PresentationFormat>On-screen Show (16:9)</PresentationFormat>
  <Paragraphs>72</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Lato</vt:lpstr>
      <vt:lpstr>Agency FB</vt:lpstr>
      <vt:lpstr>Montserrat</vt:lpstr>
      <vt:lpstr>Arial</vt:lpstr>
      <vt:lpstr>Simple Light</vt:lpstr>
      <vt:lpstr>EPILEP SAFE</vt:lpstr>
      <vt:lpstr>Introduction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(Write the Name of the Idea here)</dc:title>
  <dc:creator>HP</dc:creator>
  <cp:lastModifiedBy>win 10</cp:lastModifiedBy>
  <cp:revision>11</cp:revision>
  <dcterms:modified xsi:type="dcterms:W3CDTF">2024-07-29T15:38:11Z</dcterms:modified>
</cp:coreProperties>
</file>